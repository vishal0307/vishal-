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4" r:id="rId5"/>
    <p:sldId id="285" r:id="rId6"/>
    <p:sldId id="281" r:id="rId7"/>
    <p:sldId id="279" r:id="rId8"/>
    <p:sldId id="288" r:id="rId9"/>
    <p:sldId id="262" r:id="rId10"/>
    <p:sldId id="264" r:id="rId11"/>
    <p:sldId id="278" r:id="rId12"/>
    <p:sldId id="287" r:id="rId13"/>
    <p:sldId id="286" r:id="rId14"/>
    <p:sldId id="277" r:id="rId15"/>
    <p:sldId id="280"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0" d="100"/>
          <a:sy n="70" d="100"/>
        </p:scale>
        <p:origin x="71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42783381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4059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2559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0566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41541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7086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087670093"/>
              </p:ext>
            </p:extLst>
          </p:nvPr>
        </p:nvGraphicFramePr>
        <p:xfrm>
          <a:off x="900753" y="2600315"/>
          <a:ext cx="9793494" cy="3309166"/>
        </p:xfrm>
        <a:graphic>
          <a:graphicData uri="http://schemas.openxmlformats.org/drawingml/2006/table">
            <a:tbl>
              <a:tblPr>
                <a:noFill/>
                <a:tableStyleId>{0AAD8F4D-43EB-41E5-8A38-28AB6DFB1B60}</a:tableStyleId>
              </a:tblPr>
              <a:tblGrid>
                <a:gridCol w="2152452">
                  <a:extLst>
                    <a:ext uri="{9D8B030D-6E8A-4147-A177-3AD203B41FA5}">
                      <a16:colId xmlns:a16="http://schemas.microsoft.com/office/drawing/2014/main" xmlns="" val="20000"/>
                    </a:ext>
                  </a:extLst>
                </a:gridCol>
                <a:gridCol w="2547014">
                  <a:extLst>
                    <a:ext uri="{9D8B030D-6E8A-4147-A177-3AD203B41FA5}">
                      <a16:colId xmlns:a16="http://schemas.microsoft.com/office/drawing/2014/main" xmlns="" val="20002"/>
                    </a:ext>
                  </a:extLst>
                </a:gridCol>
                <a:gridCol w="2547014">
                  <a:extLst>
                    <a:ext uri="{9D8B030D-6E8A-4147-A177-3AD203B41FA5}">
                      <a16:colId xmlns:a16="http://schemas.microsoft.com/office/drawing/2014/main" xmlns="" val="20003"/>
                    </a:ext>
                  </a:extLst>
                </a:gridCol>
                <a:gridCol w="2547014">
                  <a:extLst>
                    <a:ext uri="{9D8B030D-6E8A-4147-A177-3AD203B41FA5}">
                      <a16:colId xmlns:a16="http://schemas.microsoft.com/office/drawing/2014/main" xmlns="" val="20004"/>
                    </a:ext>
                  </a:extLst>
                </a:gridCol>
              </a:tblGrid>
              <a:tr h="1486116">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823050">
                <a:tc>
                  <a:txBody>
                    <a:bodyPr/>
                    <a:lstStyle/>
                    <a:p>
                      <a:pPr marL="0" marR="0" lvl="0" indent="0" algn="l" rtl="0">
                        <a:spcBef>
                          <a:spcPts val="0"/>
                        </a:spcBef>
                        <a:spcAft>
                          <a:spcPts val="0"/>
                        </a:spcAft>
                        <a:buNone/>
                      </a:pPr>
                      <a:r>
                        <a:rPr lang="en-US" dirty="0" err="1" smtClean="0"/>
                        <a:t>Vishalkumar</a:t>
                      </a:r>
                      <a:r>
                        <a:rPr lang="en-US" baseline="0" dirty="0" smtClean="0"/>
                        <a:t> M. </a:t>
                      </a:r>
                      <a:r>
                        <a:rPr lang="en-US" dirty="0" smtClean="0"/>
                        <a:t>Patel</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ivishalce37@gmail.com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dirty="0" smtClean="0"/>
                        <a:t>9106457214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smtClean="0"/>
              <a:t>Agriculture</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err="1" smtClean="0"/>
              <a:t>AgriGenAI</a:t>
            </a:r>
            <a:r>
              <a:rPr lang="en-US" sz="2400" b="1" dirty="0" smtClean="0"/>
              <a:t> </a:t>
            </a:r>
            <a:r>
              <a:rPr lang="en-US" sz="2400" b="1" dirty="0"/>
              <a:t>:</a:t>
            </a:r>
            <a:r>
              <a:rPr lang="en-IN" sz="2400" b="1" dirty="0" smtClean="0"/>
              <a:t>The </a:t>
            </a:r>
            <a:r>
              <a:rPr lang="en-IN" sz="2400" b="1" dirty="0"/>
              <a:t>Crop </a:t>
            </a:r>
            <a:r>
              <a:rPr lang="en-IN" sz="2400" b="1" dirty="0" smtClean="0"/>
              <a:t>Saver</a:t>
            </a:r>
            <a:endParaRPr lang="en-IN" sz="2400" b="1" dirty="0">
              <a:highlight>
                <a:srgbClr val="FFFF00"/>
              </a:highligh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2883" y="4160007"/>
            <a:ext cx="1609299" cy="16092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18922" y="766690"/>
            <a:ext cx="11245448" cy="5693866"/>
          </a:xfrm>
          <a:prstGeom prst="rect">
            <a:avLst/>
          </a:prstGeom>
          <a:noFill/>
        </p:spPr>
        <p:txBody>
          <a:bodyPr wrap="square" rtlCol="0">
            <a:spAutoFit/>
          </a:bodyPr>
          <a:lstStyle/>
          <a:p>
            <a:pPr fontAlgn="base"/>
            <a:r>
              <a:rPr lang="en-US" b="1" dirty="0">
                <a:latin typeface="Times New Roman" pitchFamily="18" charset="0"/>
                <a:cs typeface="Times New Roman" pitchFamily="18" charset="0"/>
              </a:rPr>
              <a:t>Problem Statement : </a:t>
            </a:r>
            <a:r>
              <a:rPr lang="en-US" b="1" dirty="0" err="1">
                <a:latin typeface="Times New Roman" pitchFamily="18" charset="0"/>
                <a:cs typeface="Times New Roman" pitchFamily="18" charset="0"/>
              </a:rPr>
              <a:t>AgriGenAI</a:t>
            </a:r>
            <a:r>
              <a:rPr lang="en-US" b="1" dirty="0">
                <a:latin typeface="Times New Roman" pitchFamily="18" charset="0"/>
                <a:cs typeface="Times New Roman" pitchFamily="18" charset="0"/>
              </a:rPr>
              <a:t> :</a:t>
            </a:r>
            <a:r>
              <a:rPr lang="en-IN" b="1" dirty="0">
                <a:latin typeface="Times New Roman" pitchFamily="18" charset="0"/>
                <a:cs typeface="Times New Roman" pitchFamily="18" charset="0"/>
              </a:rPr>
              <a:t>The Crop Saver </a:t>
            </a:r>
            <a:r>
              <a:rPr lang="en-US" dirty="0">
                <a:latin typeface="Times New Roman" pitchFamily="18" charset="0"/>
                <a:cs typeface="Times New Roman" pitchFamily="18" charset="0"/>
              </a:rPr>
              <a:t> </a:t>
            </a:r>
          </a:p>
          <a:p>
            <a:pPr fontAlgn="base"/>
            <a:endParaRPr lang="en-US" b="1" dirty="0">
              <a:latin typeface="Times New Roman" pitchFamily="18" charset="0"/>
              <a:cs typeface="Times New Roman" pitchFamily="18" charset="0"/>
            </a:endParaRPr>
          </a:p>
          <a:p>
            <a:pPr fontAlgn="base"/>
            <a:r>
              <a:rPr lang="en-US" b="1" dirty="0" smtClean="0">
                <a:latin typeface="Times New Roman" pitchFamily="18" charset="0"/>
                <a:cs typeface="Times New Roman" pitchFamily="18" charset="0"/>
              </a:rPr>
              <a:t>The Challenge :</a:t>
            </a:r>
          </a:p>
          <a:p>
            <a:pPr fontAlgn="base"/>
            <a:endParaRPr lang="en-US" dirty="0" smtClean="0">
              <a:latin typeface="Times New Roman" pitchFamily="18" charset="0"/>
              <a:cs typeface="Times New Roman" pitchFamily="18" charset="0"/>
            </a:endParaRPr>
          </a:p>
          <a:p>
            <a:pPr algn="just" fontAlgn="base"/>
            <a:r>
              <a:rPr lang="en-US" dirty="0" smtClean="0">
                <a:latin typeface="Times New Roman" pitchFamily="18" charset="0"/>
                <a:cs typeface="Times New Roman" pitchFamily="18" charset="0"/>
              </a:rPr>
              <a:t>Farmers often struggle with low crop yield, unpredictable weather, pest infestations, and limited access to timely expert advice. Traditional farming advisory services are fragmented, slow, and not personalized to the farmer’s specific land, crop, or climate conditions. With the rise of climate change, data-driven smart farming solutions are needed to empower farmers with actionable insights.</a:t>
            </a:r>
          </a:p>
          <a:p>
            <a:pPr algn="just" fontAlgn="base"/>
            <a:endParaRPr lang="en-US" dirty="0" smtClean="0">
              <a:latin typeface="Times New Roman" pitchFamily="18" charset="0"/>
              <a:cs typeface="Times New Roman" pitchFamily="18" charset="0"/>
            </a:endParaRPr>
          </a:p>
          <a:p>
            <a:pPr algn="just" fontAlgn="base"/>
            <a:r>
              <a:rPr lang="en-US" b="1" dirty="0" smtClean="0">
                <a:latin typeface="Times New Roman" pitchFamily="18" charset="0"/>
                <a:cs typeface="Times New Roman" pitchFamily="18" charset="0"/>
              </a:rPr>
              <a:t>The Objective:</a:t>
            </a:r>
          </a:p>
          <a:p>
            <a:pPr algn="just" fontAlgn="base"/>
            <a:endParaRPr lang="en-US" dirty="0" smtClean="0">
              <a:latin typeface="Times New Roman" pitchFamily="18" charset="0"/>
              <a:cs typeface="Times New Roman" pitchFamily="18" charset="0"/>
            </a:endParaRPr>
          </a:p>
          <a:p>
            <a:pPr algn="just" fontAlgn="base"/>
            <a:r>
              <a:rPr lang="en-US" dirty="0" smtClean="0">
                <a:latin typeface="Times New Roman" pitchFamily="18" charset="0"/>
                <a:cs typeface="Times New Roman" pitchFamily="18" charset="0"/>
              </a:rPr>
              <a:t>Develop an AI-powered Smart Farming Agent that provides personalized, real-time, and sustainable agricultural advice. </a:t>
            </a:r>
          </a:p>
          <a:p>
            <a:pPr algn="just" fontAlgn="base"/>
            <a:r>
              <a:rPr lang="en-US" dirty="0" smtClean="0">
                <a:latin typeface="Times New Roman" pitchFamily="18" charset="0"/>
                <a:cs typeface="Times New Roman" pitchFamily="18" charset="0"/>
              </a:rPr>
              <a:t>The solution should: </a:t>
            </a:r>
          </a:p>
          <a:p>
            <a:pPr marL="342900" indent="-342900" algn="just" fontAlgn="base">
              <a:buAutoNum type="arabicPeriod"/>
            </a:pPr>
            <a:r>
              <a:rPr lang="en-US" dirty="0" smtClean="0">
                <a:latin typeface="Times New Roman" pitchFamily="18" charset="0"/>
                <a:cs typeface="Times New Roman" pitchFamily="18" charset="0"/>
              </a:rPr>
              <a:t>Agricultural Knowledge Retrieval (RAG) – Use Retrieval-Augmented Generation to fetch best practices, crop-specific guidelines, and government advisory updates. </a:t>
            </a:r>
          </a:p>
          <a:p>
            <a:pPr marL="342900" indent="-342900" algn="just" fontAlgn="base">
              <a:buAutoNum type="arabicPeriod"/>
            </a:pPr>
            <a:r>
              <a:rPr lang="en-US" dirty="0" smtClean="0">
                <a:latin typeface="Times New Roman" pitchFamily="18" charset="0"/>
                <a:cs typeface="Times New Roman" pitchFamily="18" charset="0"/>
              </a:rPr>
              <a:t>Weather &amp; Soil Insights – Integrate real-time weather forecasts, soil health data, and irrigation needs to optimize farm planning.</a:t>
            </a:r>
          </a:p>
          <a:p>
            <a:pPr marL="342900" indent="-342900" algn="just" fontAlgn="base">
              <a:buAutoNum type="arabicPeriod"/>
            </a:pPr>
            <a:r>
              <a:rPr lang="en-US" dirty="0" smtClean="0">
                <a:latin typeface="Times New Roman" pitchFamily="18" charset="0"/>
                <a:cs typeface="Times New Roman" pitchFamily="18" charset="0"/>
              </a:rPr>
              <a:t>Pest &amp; Disease Detection – Enable multimodal support where farmers upload crop images for early pest/disease identification and get instant recommendations.</a:t>
            </a:r>
          </a:p>
          <a:p>
            <a:pPr marL="342900" indent="-342900" algn="just" fontAlgn="base">
              <a:buAutoNum type="arabicPeriod"/>
            </a:pPr>
            <a:r>
              <a:rPr lang="en-US" dirty="0" smtClean="0">
                <a:latin typeface="Times New Roman" pitchFamily="18" charset="0"/>
                <a:cs typeface="Times New Roman" pitchFamily="18" charset="0"/>
              </a:rPr>
              <a:t>Personalized Advisory Agent – Suggest seeds, fertilizers, irrigation schedules, and harvesting timelines based on farmer profile and land conditions.</a:t>
            </a:r>
          </a:p>
          <a:p>
            <a:pPr marL="342900" indent="-342900" algn="just" fontAlgn="base">
              <a:buAutoNum type="arabicPeriod"/>
            </a:pPr>
            <a:r>
              <a:rPr lang="en-US" dirty="0" smtClean="0">
                <a:latin typeface="Times New Roman" pitchFamily="18" charset="0"/>
                <a:cs typeface="Times New Roman" pitchFamily="18" charset="0"/>
              </a:rPr>
              <a:t>Market &amp; Cost Optimization – Forecast demand, suggest market prices, and recommend cost-efficient practices for better income.</a:t>
            </a:r>
          </a:p>
          <a:p>
            <a:pPr marL="342900" indent="-342900" algn="just" fontAlgn="base">
              <a:buAutoNum type="arabicPeriod"/>
            </a:pPr>
            <a:r>
              <a:rPr lang="en-US" dirty="0" smtClean="0">
                <a:latin typeface="Times New Roman" pitchFamily="18" charset="0"/>
                <a:cs typeface="Times New Roman" pitchFamily="18" charset="0"/>
              </a:rPr>
              <a:t>Multi-Agent Collaboration – </a:t>
            </a:r>
          </a:p>
          <a:p>
            <a:pPr marL="857250" lvl="8" indent="-171450" algn="just" fontAlgn="base">
              <a:buFont typeface="Arial" pitchFamily="34" charset="0"/>
              <a:buChar char="•"/>
            </a:pPr>
            <a:r>
              <a:rPr lang="en-US" dirty="0" smtClean="0">
                <a:latin typeface="Times New Roman" pitchFamily="18" charset="0"/>
                <a:cs typeface="Times New Roman" pitchFamily="18" charset="0"/>
              </a:rPr>
              <a:t>Crop Advisory Agent </a:t>
            </a:r>
          </a:p>
          <a:p>
            <a:pPr marL="857250" lvl="8" indent="-171450" algn="just" fontAlgn="base">
              <a:buFont typeface="Arial" pitchFamily="34" charset="0"/>
              <a:buChar char="•"/>
            </a:pPr>
            <a:r>
              <a:rPr lang="en-US" dirty="0" smtClean="0">
                <a:latin typeface="Times New Roman" pitchFamily="18" charset="0"/>
                <a:cs typeface="Times New Roman" pitchFamily="18" charset="0"/>
              </a:rPr>
              <a:t>Weather &amp; Irrigation Agent </a:t>
            </a:r>
          </a:p>
          <a:p>
            <a:pPr marL="857250" lvl="8" indent="-171450" algn="just" fontAlgn="base">
              <a:buFont typeface="Arial" pitchFamily="34" charset="0"/>
              <a:buChar char="•"/>
            </a:pPr>
            <a:r>
              <a:rPr lang="en-US" dirty="0" smtClean="0">
                <a:latin typeface="Times New Roman" pitchFamily="18" charset="0"/>
                <a:cs typeface="Times New Roman" pitchFamily="18" charset="0"/>
              </a:rPr>
              <a:t>Pest/Disease Detection Agent </a:t>
            </a:r>
          </a:p>
          <a:p>
            <a:pPr marL="857250" lvl="8" indent="-171450" algn="just" fontAlgn="base">
              <a:buFont typeface="Arial" pitchFamily="34" charset="0"/>
              <a:buChar char="•"/>
            </a:pPr>
            <a:r>
              <a:rPr lang="en-US" dirty="0" smtClean="0">
                <a:latin typeface="Times New Roman" pitchFamily="18" charset="0"/>
                <a:cs typeface="Times New Roman" pitchFamily="18" charset="0"/>
              </a:rPr>
              <a:t>Market Insights Agent</a:t>
            </a:r>
            <a:endParaRPr lang="en-US" dirty="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xmlns="" id="{3847FA31-EA47-D27A-9D69-AF50A3080AEC}"/>
              </a:ext>
            </a:extLst>
          </p:cNvPr>
          <p:cNvSpPr txBox="1"/>
          <p:nvPr/>
        </p:nvSpPr>
        <p:spPr>
          <a:xfrm>
            <a:off x="518922" y="0"/>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07CFCB91-EF22-EB8C-5B0D-4D46021F0245}"/>
              </a:ext>
            </a:extLst>
          </p:cNvPr>
          <p:cNvSpPr txBox="1"/>
          <p:nvPr/>
        </p:nvSpPr>
        <p:spPr>
          <a:xfrm>
            <a:off x="576072" y="1670720"/>
            <a:ext cx="10607040" cy="3785652"/>
          </a:xfrm>
          <a:prstGeom prst="rect">
            <a:avLst/>
          </a:prstGeom>
          <a:noFill/>
        </p:spPr>
        <p:txBody>
          <a:bodyPr wrap="square" rtlCol="0">
            <a:spAutoFit/>
          </a:bodyPr>
          <a:lstStyle/>
          <a:p>
            <a:pPr fontAlgn="base"/>
            <a:r>
              <a:rPr lang="en-US" sz="2000" dirty="0" smtClean="0">
                <a:latin typeface="Times New Roman" pitchFamily="18" charset="0"/>
                <a:cs typeface="Times New Roman" pitchFamily="18" charset="0"/>
              </a:rPr>
              <a:t>Use any one of the following approaches: </a:t>
            </a:r>
          </a:p>
          <a:p>
            <a:pPr marL="285750" lvl="3" fontAlgn="base">
              <a:buFont typeface="Arial" pitchFamily="34" charset="0"/>
              <a:buChar char="•"/>
            </a:pPr>
            <a:r>
              <a:rPr lang="en-US" sz="2000" dirty="0" err="1" smtClean="0">
                <a:latin typeface="Times New Roman" pitchFamily="18" charset="0"/>
                <a:cs typeface="Times New Roman" pitchFamily="18" charset="0"/>
              </a:rPr>
              <a:t>LangFlow</a:t>
            </a:r>
            <a:r>
              <a:rPr lang="en-US" sz="2000" dirty="0" smtClean="0">
                <a:latin typeface="Times New Roman" pitchFamily="18" charset="0"/>
                <a:cs typeface="Times New Roman" pitchFamily="18" charset="0"/>
              </a:rPr>
              <a:t> + IBM watsonx.ai + Granite Models </a:t>
            </a:r>
          </a:p>
          <a:p>
            <a:pPr marL="285750" lvl="3" fontAlgn="base">
              <a:buFont typeface="Arial" pitchFamily="34" charset="0"/>
              <a:buChar char="•"/>
            </a:pPr>
            <a:r>
              <a:rPr lang="en-US" sz="2000" dirty="0" smtClean="0">
                <a:latin typeface="Times New Roman" pitchFamily="18" charset="0"/>
                <a:cs typeface="Times New Roman" pitchFamily="18" charset="0"/>
              </a:rPr>
              <a:t>IBM Cloud </a:t>
            </a:r>
            <a:r>
              <a:rPr lang="en-US" sz="2000" dirty="0" err="1" smtClean="0">
                <a:latin typeface="Times New Roman" pitchFamily="18" charset="0"/>
                <a:cs typeface="Times New Roman" pitchFamily="18" charset="0"/>
              </a:rPr>
              <a:t>Agentic</a:t>
            </a:r>
            <a:r>
              <a:rPr lang="en-US" sz="2000" dirty="0" smtClean="0">
                <a:latin typeface="Times New Roman" pitchFamily="18" charset="0"/>
                <a:cs typeface="Times New Roman" pitchFamily="18" charset="0"/>
              </a:rPr>
              <a:t> Lab with IBM Granite Models </a:t>
            </a:r>
          </a:p>
          <a:p>
            <a:pPr marL="285750" lvl="3" fontAlgn="base">
              <a:buFont typeface="Arial" pitchFamily="34" charset="0"/>
              <a:buChar char="•"/>
            </a:pPr>
            <a:r>
              <a:rPr lang="en-US" sz="2000" dirty="0" smtClean="0">
                <a:latin typeface="Times New Roman" pitchFamily="18" charset="0"/>
                <a:cs typeface="Times New Roman" pitchFamily="18" charset="0"/>
              </a:rPr>
              <a:t>Replicate with </a:t>
            </a:r>
            <a:r>
              <a:rPr lang="en-US" sz="2000" dirty="0" err="1" smtClean="0">
                <a:latin typeface="Times New Roman" pitchFamily="18" charset="0"/>
                <a:cs typeface="Times New Roman" pitchFamily="18" charset="0"/>
              </a:rPr>
              <a:t>LangChain</a:t>
            </a:r>
            <a:r>
              <a:rPr lang="en-US" sz="2000" dirty="0" smtClean="0">
                <a:latin typeface="Times New Roman" pitchFamily="18" charset="0"/>
                <a:cs typeface="Times New Roman" pitchFamily="18" charset="0"/>
              </a:rPr>
              <a:t> + RAG + IBM Granite Models</a:t>
            </a:r>
          </a:p>
          <a:p>
            <a:pPr marL="285750" lvl="3" fontAlgn="base">
              <a:buFont typeface="Arial" pitchFamily="34" charset="0"/>
              <a:buChar char="•"/>
            </a:pPr>
            <a:endParaRPr lang="en-US" sz="2000" b="1" dirty="0" smtClean="0">
              <a:latin typeface="Times New Roman" pitchFamily="18" charset="0"/>
              <a:cs typeface="Times New Roman" pitchFamily="18" charset="0"/>
            </a:endParaRPr>
          </a:p>
          <a:p>
            <a:pPr marL="285750" lvl="3" fontAlgn="base">
              <a:buFont typeface="Arial" pitchFamily="34" charset="0"/>
              <a:buChar char="•"/>
            </a:pPr>
            <a:endParaRPr lang="en-US" sz="2000" b="1" dirty="0" smtClean="0">
              <a:latin typeface="Times New Roman" pitchFamily="18" charset="0"/>
              <a:cs typeface="Times New Roman" pitchFamily="18" charset="0"/>
            </a:endParaRPr>
          </a:p>
          <a:p>
            <a:pPr marL="57150" lvl="3" fontAlgn="base"/>
            <a:r>
              <a:rPr lang="en-US" sz="2000" b="1" dirty="0" smtClean="0">
                <a:latin typeface="Times New Roman" pitchFamily="18" charset="0"/>
                <a:cs typeface="Times New Roman" pitchFamily="18" charset="0"/>
              </a:rPr>
              <a:t>I used </a:t>
            </a:r>
            <a:r>
              <a:rPr lang="en-IN" sz="2000" b="1" dirty="0" err="1" smtClean="0">
                <a:latin typeface="Times New Roman" pitchFamily="18" charset="0"/>
                <a:cs typeface="Times New Roman" pitchFamily="18" charset="0"/>
              </a:rPr>
              <a:t>LangFlow</a:t>
            </a:r>
            <a:r>
              <a:rPr lang="en-IN" sz="2000" b="1" dirty="0">
                <a:latin typeface="Times New Roman" pitchFamily="18" charset="0"/>
                <a:cs typeface="Times New Roman" pitchFamily="18" charset="0"/>
              </a:rPr>
              <a:t> + IBM watsonx.ai + Granite Models</a:t>
            </a:r>
            <a:r>
              <a:rPr lang="en-IN" sz="2000" dirty="0">
                <a:latin typeface="Times New Roman" pitchFamily="18" charset="0"/>
                <a:cs typeface="Times New Roman" pitchFamily="18" charset="0"/>
              </a:rPr>
              <a:t> </a:t>
            </a:r>
          </a:p>
          <a:p>
            <a:pPr fontAlgn="base"/>
            <a:endParaRPr lang="en-IN" sz="2000" dirty="0">
              <a:latin typeface="Times New Roman" pitchFamily="18" charset="0"/>
              <a:cs typeface="Times New Roman" pitchFamily="18" charset="0"/>
            </a:endParaRPr>
          </a:p>
          <a:p>
            <a:pPr marL="285750" indent="-285750" fontAlgn="base">
              <a:buFont typeface="Arial" panose="020B0604020202020204" pitchFamily="34" charset="0"/>
              <a:buChar char="•"/>
            </a:pPr>
            <a:endParaRPr lang="en-IN" sz="2000" dirty="0">
              <a:latin typeface="Times New Roman" pitchFamily="18" charset="0"/>
              <a:cs typeface="Times New Roman" pitchFamily="18" charset="0"/>
            </a:endParaRPr>
          </a:p>
          <a:p>
            <a:pPr fontAlgn="base"/>
            <a:endParaRPr lang="en-IN" sz="2000" dirty="0">
              <a:latin typeface="Times New Roman" pitchFamily="18" charset="0"/>
              <a:cs typeface="Times New Roman" pitchFamily="18" charset="0"/>
            </a:endParaRPr>
          </a:p>
          <a:p>
            <a:pPr fontAlgn="base"/>
            <a:endParaRPr lang="en-US" sz="2000" dirty="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xmlns=""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Technology Used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466725" y="1234440"/>
            <a:ext cx="11353799" cy="5047536"/>
          </a:xfrm>
          <a:prstGeom prst="rect">
            <a:avLst/>
          </a:prstGeom>
          <a:noFill/>
        </p:spPr>
        <p:txBody>
          <a:bodyPr wrap="square" rtlCol="0">
            <a:spAutoFit/>
          </a:bodyPr>
          <a:lstStyle/>
          <a:p>
            <a:pPr algn="just" fontAlgn="base"/>
            <a:endParaRPr lang="en-US" b="1" dirty="0">
              <a:latin typeface="Times New Roman" pitchFamily="18" charset="0"/>
              <a:cs typeface="Times New Roman" pitchFamily="18" charset="0"/>
            </a:endParaRPr>
          </a:p>
          <a:p>
            <a:pPr algn="just"/>
            <a:r>
              <a:rPr lang="en-US" b="1" dirty="0">
                <a:latin typeface="Times New Roman" pitchFamily="18" charset="0"/>
                <a:cs typeface="Times New Roman" pitchFamily="18" charset="0"/>
              </a:rPr>
              <a:t>Proposed Solution: </a:t>
            </a:r>
            <a:r>
              <a:rPr lang="en-US" b="1" dirty="0" err="1">
                <a:latin typeface="Times New Roman" pitchFamily="18" charset="0"/>
                <a:cs typeface="Times New Roman" pitchFamily="18" charset="0"/>
              </a:rPr>
              <a:t>AgriGenAI</a:t>
            </a:r>
            <a:r>
              <a:rPr lang="en-US" b="1" dirty="0">
                <a:latin typeface="Times New Roman" pitchFamily="18" charset="0"/>
                <a:cs typeface="Times New Roman" pitchFamily="18" charset="0"/>
              </a:rPr>
              <a:t> :</a:t>
            </a:r>
            <a:r>
              <a:rPr lang="en-IN" b="1" dirty="0">
                <a:latin typeface="Times New Roman" pitchFamily="18" charset="0"/>
                <a:cs typeface="Times New Roman" pitchFamily="18" charset="0"/>
              </a:rPr>
              <a:t>The Crop Saver </a:t>
            </a:r>
            <a:endParaRPr lang="en-US" b="1" dirty="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proposed solution is a </a:t>
            </a:r>
            <a:r>
              <a:rPr lang="en-US" b="1" dirty="0" smtClean="0">
                <a:latin typeface="Times New Roman" pitchFamily="18" charset="0"/>
                <a:cs typeface="Times New Roman" pitchFamily="18" charset="0"/>
              </a:rPr>
              <a:t>multi-agent AI-powered Smart Farming Agent</a:t>
            </a:r>
            <a:r>
              <a:rPr lang="en-US" dirty="0" smtClean="0">
                <a:latin typeface="Times New Roman" pitchFamily="18" charset="0"/>
                <a:cs typeface="Times New Roman" pitchFamily="18" charset="0"/>
              </a:rPr>
              <a:t> built using </a:t>
            </a:r>
            <a:r>
              <a:rPr lang="en-US" b="1" dirty="0" err="1" smtClean="0">
                <a:latin typeface="Times New Roman" pitchFamily="18" charset="0"/>
                <a:cs typeface="Times New Roman" pitchFamily="18" charset="0"/>
              </a:rPr>
              <a:t>LangFlow</a:t>
            </a:r>
            <a:r>
              <a:rPr lang="en-US" b="1" dirty="0" smtClean="0">
                <a:latin typeface="Times New Roman" pitchFamily="18" charset="0"/>
                <a:cs typeface="Times New Roman" pitchFamily="18" charset="0"/>
              </a:rPr>
              <a:t>, IBM watsonx.ai, and Granite Models</a:t>
            </a:r>
            <a:r>
              <a:rPr lang="en-US" dirty="0" smtClean="0">
                <a:latin typeface="Times New Roman" pitchFamily="18" charset="0"/>
                <a:cs typeface="Times New Roman" pitchFamily="18" charset="0"/>
              </a:rPr>
              <a:t> to provide personalized, real-time agricultural advisory services. The system addresses key challenges in modern agriculture such as low crop yield, unpredictable weather conditions, pest infestations, and lack of timely expert guidance through an intelligent and modular AI architecture.</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At its core, the solution uses a </a:t>
            </a:r>
            <a:r>
              <a:rPr lang="en-US" b="1" dirty="0" smtClean="0">
                <a:latin typeface="Times New Roman" pitchFamily="18" charset="0"/>
                <a:cs typeface="Times New Roman" pitchFamily="18" charset="0"/>
              </a:rPr>
              <a:t>Retrieval-Augmented Generation (RAG)-inspired pipeline</a:t>
            </a:r>
            <a:r>
              <a:rPr lang="en-US" dirty="0" smtClean="0">
                <a:latin typeface="Times New Roman" pitchFamily="18" charset="0"/>
                <a:cs typeface="Times New Roman" pitchFamily="18" charset="0"/>
              </a:rPr>
              <a:t> to utilize agricultural knowledge from trusted sources such as </a:t>
            </a:r>
            <a:r>
              <a:rPr lang="en-US" b="1" dirty="0" smtClean="0">
                <a:latin typeface="Times New Roman" pitchFamily="18" charset="0"/>
                <a:cs typeface="Times New Roman" pitchFamily="18" charset="0"/>
              </a:rPr>
              <a:t>ICAR guidelines, government agriculture advisories, crop production manuals. </a:t>
            </a:r>
            <a:r>
              <a:rPr lang="en-US" dirty="0" smtClean="0">
                <a:latin typeface="Times New Roman" pitchFamily="18" charset="0"/>
                <a:cs typeface="Times New Roman" pitchFamily="18" charset="0"/>
              </a:rPr>
              <a:t>This knowledge is processed and used by Granite models to generate accurate, context-aware farming recommendations.</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The system consists of four key agents:</a:t>
            </a:r>
          </a:p>
          <a:p>
            <a:pPr algn="just"/>
            <a:r>
              <a:rPr lang="en-US" b="1" dirty="0" smtClean="0">
                <a:latin typeface="Times New Roman" pitchFamily="18" charset="0"/>
                <a:cs typeface="Times New Roman" pitchFamily="18" charset="0"/>
              </a:rPr>
              <a:t>Crop Advisory Agent</a:t>
            </a:r>
            <a:r>
              <a:rPr lang="en-US" dirty="0" smtClean="0">
                <a:latin typeface="Times New Roman" pitchFamily="18" charset="0"/>
                <a:cs typeface="Times New Roman" pitchFamily="18" charset="0"/>
              </a:rPr>
              <a:t> retrieves agricultural best practices and provides recommendations for crop selection, fertilizer usage, irrigation scheduling, and yield improvement techniques. </a:t>
            </a:r>
          </a:p>
          <a:p>
            <a:pPr algn="just"/>
            <a:r>
              <a:rPr lang="en-US" b="1" dirty="0" smtClean="0">
                <a:latin typeface="Times New Roman" pitchFamily="18" charset="0"/>
                <a:cs typeface="Times New Roman" pitchFamily="18" charset="0"/>
              </a:rPr>
              <a:t>Weather &amp; Irrigation Agent</a:t>
            </a:r>
            <a:r>
              <a:rPr lang="en-US" dirty="0" smtClean="0">
                <a:latin typeface="Times New Roman" pitchFamily="18" charset="0"/>
                <a:cs typeface="Times New Roman" pitchFamily="18" charset="0"/>
              </a:rPr>
              <a:t> analyzes weather patterns and environmental conditions to suggest optimal irrigation schedules, rainfall-based planning, and water conservation strategies. </a:t>
            </a:r>
          </a:p>
          <a:p>
            <a:pPr algn="just"/>
            <a:r>
              <a:rPr lang="en-US" b="1" dirty="0" smtClean="0">
                <a:latin typeface="Times New Roman" pitchFamily="18" charset="0"/>
                <a:cs typeface="Times New Roman" pitchFamily="18" charset="0"/>
              </a:rPr>
              <a:t>Pest &amp; Disease Detection Agent</a:t>
            </a:r>
            <a:r>
              <a:rPr lang="en-US" dirty="0" smtClean="0">
                <a:latin typeface="Times New Roman" pitchFamily="18" charset="0"/>
                <a:cs typeface="Times New Roman" pitchFamily="18" charset="0"/>
              </a:rPr>
              <a:t> identifies crop health issues based on symptoms or descriptions and provides immediate treatment methods along with preventive measures. </a:t>
            </a:r>
          </a:p>
          <a:p>
            <a:pPr algn="just"/>
            <a:r>
              <a:rPr lang="en-US" b="1" dirty="0" smtClean="0">
                <a:latin typeface="Times New Roman" pitchFamily="18" charset="0"/>
                <a:cs typeface="Times New Roman" pitchFamily="18" charset="0"/>
              </a:rPr>
              <a:t>Market Insight Agent</a:t>
            </a:r>
            <a:r>
              <a:rPr lang="en-US" dirty="0" smtClean="0">
                <a:latin typeface="Times New Roman" pitchFamily="18" charset="0"/>
                <a:cs typeface="Times New Roman" pitchFamily="18" charset="0"/>
              </a:rPr>
              <a:t> delivers crop price forecasts, demand trends, and cost-effective selling strategies to help farmers maximize income. </a:t>
            </a:r>
          </a:p>
          <a:p>
            <a:pPr algn="just"/>
            <a:r>
              <a:rPr lang="en-US" dirty="0" smtClean="0">
                <a:latin typeface="Times New Roman" pitchFamily="18" charset="0"/>
                <a:cs typeface="Times New Roman" pitchFamily="18" charset="0"/>
              </a:rPr>
              <a:t>The system can be accessed through a </a:t>
            </a:r>
            <a:r>
              <a:rPr lang="en-US" b="1" dirty="0" smtClean="0">
                <a:latin typeface="Times New Roman" pitchFamily="18" charset="0"/>
                <a:cs typeface="Times New Roman" pitchFamily="18" charset="0"/>
              </a:rPr>
              <a:t>user-friendly conversational interface</a:t>
            </a:r>
            <a:r>
              <a:rPr lang="en-US" dirty="0" smtClean="0">
                <a:latin typeface="Times New Roman" pitchFamily="18" charset="0"/>
                <a:cs typeface="Times New Roman" pitchFamily="18" charset="0"/>
              </a:rPr>
              <a:t>, allowing farmers to input queries in natural language. The AI system processes the input, routes it to the appropriate agent using intelligent prompt-based classification, and generates actionable farming advice in real time.</a:t>
            </a:r>
          </a:p>
          <a:p>
            <a:pPr algn="just"/>
            <a:endParaRPr lang="en-US" dirty="0" smtClean="0">
              <a:latin typeface="Times New Roman" pitchFamily="18" charset="0"/>
              <a:cs typeface="Times New Roman" pitchFamily="18" charset="0"/>
            </a:endParaRPr>
          </a:p>
          <a:p>
            <a:pPr algn="just"/>
            <a:r>
              <a:rPr lang="en-US" dirty="0" smtClean="0">
                <a:latin typeface="Times New Roman" pitchFamily="18" charset="0"/>
                <a:cs typeface="Times New Roman" pitchFamily="18" charset="0"/>
              </a:rPr>
              <a:t>Overall, this solution delivers an end-to-end intelligent farming assistant that empowers farmers with </a:t>
            </a:r>
            <a:r>
              <a:rPr lang="en-US" b="1" dirty="0" smtClean="0">
                <a:latin typeface="Times New Roman" pitchFamily="18" charset="0"/>
                <a:cs typeface="Times New Roman" pitchFamily="18" charset="0"/>
              </a:rPr>
              <a:t>data-driven insights, improved productivity, sustainable farming practices, and real-time decision support</a:t>
            </a:r>
            <a:r>
              <a:rPr lang="en-US" dirty="0" smtClean="0">
                <a:latin typeface="Times New Roman" pitchFamily="18" charset="0"/>
                <a:cs typeface="Times New Roman" pitchFamily="18" charset="0"/>
              </a:rPr>
              <a:t>.</a:t>
            </a:r>
            <a:endParaRPr lang="en-US"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xmlns=""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474822" y="863186"/>
            <a:ext cx="10955178" cy="5509200"/>
          </a:xfrm>
          <a:prstGeom prst="rect">
            <a:avLst/>
          </a:prstGeom>
          <a:noFill/>
        </p:spPr>
        <p:txBody>
          <a:bodyPr wrap="square" rtlCol="0">
            <a:spAutoFit/>
          </a:bodyPr>
          <a:lstStyle/>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1) Chat Input </a:t>
            </a:r>
            <a:r>
              <a:rPr lang="en-US" sz="1600" dirty="0" smtClean="0">
                <a:latin typeface="Times New Roman" pitchFamily="18" charset="0"/>
                <a:cs typeface="Times New Roman" pitchFamily="18" charset="0"/>
              </a:rPr>
              <a:t>– Interface where farmers enter their queries . Supports farming-related questions such as crop issues, weather, pest problems, and market prices</a:t>
            </a:r>
            <a:endParaRPr lang="en-US" sz="1600" dirty="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2) IBM </a:t>
            </a:r>
            <a:r>
              <a:rPr lang="en-US" sz="1600" b="1" dirty="0" err="1">
                <a:latin typeface="Times New Roman" pitchFamily="18" charset="0"/>
                <a:cs typeface="Times New Roman" pitchFamily="18" charset="0"/>
              </a:rPr>
              <a:t>watsonx</a:t>
            </a:r>
            <a:r>
              <a:rPr lang="en-US" sz="1600" b="1" dirty="0">
                <a:latin typeface="Times New Roman" pitchFamily="18" charset="0"/>
                <a:cs typeface="Times New Roman" pitchFamily="18" charset="0"/>
              </a:rPr>
              <a:t> AI Agent </a:t>
            </a: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Core reasoning engine of the system. Processes user input using </a:t>
            </a:r>
            <a:r>
              <a:rPr lang="en-US" sz="1600" b="1" dirty="0" smtClean="0">
                <a:latin typeface="Times New Roman" pitchFamily="18" charset="0"/>
                <a:cs typeface="Times New Roman" pitchFamily="18" charset="0"/>
              </a:rPr>
              <a:t>Granite foundation models.</a:t>
            </a:r>
            <a:r>
              <a:rPr lang="en-US" sz="1600" dirty="0" smtClean="0">
                <a:latin typeface="Times New Roman" pitchFamily="18" charset="0"/>
                <a:cs typeface="Times New Roman" pitchFamily="18" charset="0"/>
              </a:rPr>
              <a:t> Understands agricultural context and generates intelligent responses</a:t>
            </a:r>
            <a:endParaRPr lang="en-US" sz="1600" dirty="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3) Name of IBM Granite model - </a:t>
            </a:r>
            <a:r>
              <a:rPr lang="en-US" sz="1600" b="1" dirty="0" smtClean="0">
                <a:latin typeface="Times New Roman" pitchFamily="18" charset="0"/>
                <a:cs typeface="Times New Roman" pitchFamily="18" charset="0"/>
              </a:rPr>
              <a:t>Granite-4.0-8B-Instruct</a:t>
            </a:r>
            <a:r>
              <a:rPr lang="en-US" sz="1600" dirty="0" smtClean="0">
                <a:latin typeface="Times New Roman" pitchFamily="18" charset="0"/>
                <a:cs typeface="Times New Roman" pitchFamily="18" charset="0"/>
              </a:rPr>
              <a:t> Optimized for: Real-time reasoning </a:t>
            </a:r>
          </a:p>
          <a:p>
            <a:r>
              <a:rPr lang="en-US" sz="1600" dirty="0" smtClean="0">
                <a:latin typeface="Times New Roman" pitchFamily="18" charset="0"/>
                <a:cs typeface="Times New Roman" pitchFamily="18" charset="0"/>
              </a:rPr>
              <a:t>Agricultural advisory generation.  Context-aware responses. Provides fast and accurate farming recommendations</a:t>
            </a:r>
            <a:endParaRPr lang="en-US" sz="1600" dirty="0">
              <a:latin typeface="Times New Roman" pitchFamily="18" charset="0"/>
              <a:cs typeface="Times New Roman" pitchFamily="18" charset="0"/>
            </a:endParaRP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4) Chat output -</a:t>
            </a:r>
            <a:r>
              <a:rPr lang="en-US" sz="1600" dirty="0">
                <a:latin typeface="Times New Roman" pitchFamily="18" charset="0"/>
                <a:cs typeface="Times New Roman" pitchFamily="18" charset="0"/>
              </a:rPr>
              <a:t>Displays AI-generated responses such as diet plans, nutritional analysis, and health suggestions. </a:t>
            </a: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5) </a:t>
            </a:r>
            <a:r>
              <a:rPr lang="en-US" sz="1600" b="1" dirty="0" smtClean="0">
                <a:latin typeface="Times New Roman" pitchFamily="18" charset="0"/>
                <a:cs typeface="Times New Roman" pitchFamily="18" charset="0"/>
              </a:rPr>
              <a:t>File Component : </a:t>
            </a:r>
            <a:r>
              <a:rPr lang="en-US" sz="1600" dirty="0" smtClean="0">
                <a:latin typeface="Times New Roman" pitchFamily="18" charset="0"/>
                <a:cs typeface="Times New Roman" pitchFamily="18" charset="0"/>
              </a:rPr>
              <a:t>Stores agricultural documents and datasets such as:  ICAR guidelines, Crop production manuals, Soil health reports. Helps provide knowledge-based context for better responses</a:t>
            </a: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6</a:t>
            </a:r>
            <a:r>
              <a:rPr lang="en-US" sz="1600" b="1" dirty="0" smtClean="0">
                <a:latin typeface="Times New Roman" pitchFamily="18" charset="0"/>
                <a:cs typeface="Times New Roman" pitchFamily="18" charset="0"/>
              </a:rPr>
              <a:t>)</a:t>
            </a:r>
            <a:r>
              <a:rPr lang="en-US" sz="1600" dirty="0" smtClean="0">
                <a:latin typeface="Times New Roman" pitchFamily="18" charset="0"/>
                <a:cs typeface="Times New Roman" pitchFamily="18" charset="0"/>
              </a:rPr>
              <a:t> </a:t>
            </a:r>
            <a:r>
              <a:rPr lang="en-US" sz="1600" b="1" dirty="0" smtClean="0">
                <a:latin typeface="Times New Roman" pitchFamily="18" charset="0"/>
                <a:cs typeface="Times New Roman" pitchFamily="18" charset="0"/>
              </a:rPr>
              <a:t>Prompt Template: </a:t>
            </a:r>
            <a:r>
              <a:rPr lang="en-US" sz="1600" dirty="0" smtClean="0">
                <a:latin typeface="Times New Roman" pitchFamily="18" charset="0"/>
                <a:cs typeface="Times New Roman" pitchFamily="18" charset="0"/>
              </a:rPr>
              <a:t>Structures the input for the AI model  Combines:  User query, Agricultural context (if provided). Ensures structured and domain-specific responses</a:t>
            </a:r>
          </a:p>
          <a:p>
            <a:endParaRPr lang="en-US" sz="1600"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7) Parser</a:t>
            </a:r>
            <a:r>
              <a:rPr lang="en-US" sz="1600" dirty="0" smtClean="0">
                <a:latin typeface="Times New Roman" pitchFamily="18" charset="0"/>
                <a:cs typeface="Times New Roman" pitchFamily="18" charset="0"/>
              </a:rPr>
              <a:t>: Use to convert File content into message format.</a:t>
            </a:r>
          </a:p>
          <a:p>
            <a:endParaRPr lang="en-US" sz="1600" dirty="0" smtClean="0">
              <a:latin typeface="Times New Roman" pitchFamily="18" charset="0"/>
              <a:cs typeface="Times New Roman" pitchFamily="18" charset="0"/>
            </a:endParaRPr>
          </a:p>
          <a:p>
            <a:r>
              <a:rPr lang="en-US" sz="1600" b="1" dirty="0" smtClean="0">
                <a:latin typeface="Times New Roman" pitchFamily="18" charset="0"/>
                <a:cs typeface="Times New Roman" pitchFamily="18" charset="0"/>
              </a:rPr>
              <a:t>8) Agent</a:t>
            </a:r>
            <a:r>
              <a:rPr lang="en-US" sz="1600" dirty="0" smtClean="0">
                <a:latin typeface="Times New Roman" pitchFamily="18" charset="0"/>
                <a:cs typeface="Times New Roman" pitchFamily="18" charset="0"/>
              </a:rPr>
              <a:t>: includes 5 Agent (Main agent working as a router and others are CROP ADVISORY AGENT, WEATHER &amp; IRRIGATION AGENT, PEST / DISEASE DETECTION AGENT, MARKET INSIGHTS AGENT).  </a:t>
            </a: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184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3" name="Picture 2"/>
          <p:cNvPicPr>
            <a:picLocks noChangeAspect="1"/>
          </p:cNvPicPr>
          <p:nvPr/>
        </p:nvPicPr>
        <p:blipFill>
          <a:blip r:embed="rId3"/>
          <a:stretch>
            <a:fillRect/>
          </a:stretch>
        </p:blipFill>
        <p:spPr>
          <a:xfrm>
            <a:off x="1187389" y="1004319"/>
            <a:ext cx="9984867" cy="5123526"/>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45912" y="764275"/>
            <a:ext cx="10768084" cy="5292346"/>
          </a:xfrm>
          <a:prstGeom prst="rect">
            <a:avLst/>
          </a:prstGeom>
        </p:spPr>
      </p:pic>
    </p:spTree>
    <p:extLst>
      <p:ext uri="{BB962C8B-B14F-4D97-AF65-F5344CB8AC3E}">
        <p14:creationId xmlns:p14="http://schemas.microsoft.com/office/powerpoint/2010/main" val="3133980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3074" name="Picture 2" descr="C:\Users\hp\Downloads\ChatGPT Image Jun 11, 2026, 10_45_53 PM.png"/>
          <p:cNvPicPr>
            <a:picLocks noChangeAspect="1" noChangeArrowheads="1"/>
          </p:cNvPicPr>
          <p:nvPr/>
        </p:nvPicPr>
        <p:blipFill>
          <a:blip r:embed="rId3"/>
          <a:srcRect/>
          <a:stretch>
            <a:fillRect/>
          </a:stretch>
        </p:blipFill>
        <p:spPr bwMode="auto">
          <a:xfrm>
            <a:off x="257175" y="777875"/>
            <a:ext cx="11677649" cy="6080125"/>
          </a:xfrm>
          <a:prstGeom prst="rect">
            <a:avLst/>
          </a:prstGeom>
        </p:spPr>
        <p:style>
          <a:lnRef idx="2">
            <a:schemeClr val="dk1"/>
          </a:lnRef>
          <a:fillRef idx="1">
            <a:schemeClr val="lt1"/>
          </a:fillRef>
          <a:effectRef idx="0">
            <a:schemeClr val="dk1"/>
          </a:effectRef>
          <a:fontRef idx="minor">
            <a:schemeClr val="dk1"/>
          </a:fontRef>
        </p:style>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xmlns=""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xmlns="" id="{322462E8-EB3A-DA7D-44CB-4E757803A755}"/>
              </a:ext>
            </a:extLst>
          </p:cNvPr>
          <p:cNvSpPr txBox="1"/>
          <p:nvPr/>
        </p:nvSpPr>
        <p:spPr>
          <a:xfrm>
            <a:off x="285750" y="910318"/>
            <a:ext cx="7742682" cy="5632311"/>
          </a:xfrm>
          <a:prstGeom prst="rect">
            <a:avLst/>
          </a:prstGeom>
          <a:noFill/>
        </p:spPr>
        <p:txBody>
          <a:bodyPr wrap="square" rtlCol="0">
            <a:spAutoFit/>
          </a:bodyPr>
          <a:lstStyle/>
          <a:p>
            <a:pPr algn="just"/>
            <a:r>
              <a:rPr lang="en-US" sz="1500" b="1" dirty="0" smtClean="0">
                <a:latin typeface="Times New Roman" pitchFamily="18" charset="0"/>
                <a:cs typeface="Times New Roman" pitchFamily="18" charset="0"/>
              </a:rPr>
              <a:t>🌾 Role of </a:t>
            </a:r>
            <a:r>
              <a:rPr lang="en-US" sz="1500" b="1" dirty="0" err="1" smtClean="0">
                <a:latin typeface="Times New Roman" pitchFamily="18" charset="0"/>
                <a:cs typeface="Times New Roman" pitchFamily="18" charset="0"/>
              </a:rPr>
              <a:t>Agentic</a:t>
            </a:r>
            <a:r>
              <a:rPr lang="en-US" sz="1500" b="1" dirty="0" smtClean="0">
                <a:latin typeface="Times New Roman" pitchFamily="18" charset="0"/>
                <a:cs typeface="Times New Roman" pitchFamily="18" charset="0"/>
              </a:rPr>
              <a:t> AI in Smart Farming Agent</a:t>
            </a:r>
          </a:p>
          <a:p>
            <a:pPr algn="just"/>
            <a:r>
              <a:rPr lang="en-US" sz="1500" dirty="0" err="1" smtClean="0">
                <a:latin typeface="Times New Roman" pitchFamily="18" charset="0"/>
                <a:cs typeface="Times New Roman" pitchFamily="18" charset="0"/>
              </a:rPr>
              <a:t>Agentic</a:t>
            </a:r>
            <a:r>
              <a:rPr lang="en-US" sz="1500" dirty="0" smtClean="0">
                <a:latin typeface="Times New Roman" pitchFamily="18" charset="0"/>
                <a:cs typeface="Times New Roman" pitchFamily="18" charset="0"/>
              </a:rPr>
              <a:t> AI enables the Smart Farming Agent to function as an </a:t>
            </a:r>
            <a:r>
              <a:rPr lang="en-US" sz="1500" b="1" dirty="0" smtClean="0">
                <a:latin typeface="Times New Roman" pitchFamily="18" charset="0"/>
                <a:cs typeface="Times New Roman" pitchFamily="18" charset="0"/>
              </a:rPr>
              <a:t>intelligent, autonomous agricultural advisory system</a:t>
            </a:r>
            <a:r>
              <a:rPr lang="en-US" sz="1500" dirty="0" smtClean="0">
                <a:latin typeface="Times New Roman" pitchFamily="18" charset="0"/>
                <a:cs typeface="Times New Roman" pitchFamily="18" charset="0"/>
              </a:rPr>
              <a:t> rather than a simple Q&amp;A </a:t>
            </a:r>
            <a:r>
              <a:rPr lang="en-US" sz="1500" dirty="0" err="1" smtClean="0">
                <a:latin typeface="Times New Roman" pitchFamily="18" charset="0"/>
                <a:cs typeface="Times New Roman" pitchFamily="18" charset="0"/>
              </a:rPr>
              <a:t>chatbot</a:t>
            </a:r>
            <a:r>
              <a:rPr lang="en-US" sz="1500" dirty="0" smtClean="0">
                <a:latin typeface="Times New Roman" pitchFamily="18" charset="0"/>
                <a:cs typeface="Times New Roman" pitchFamily="18" charset="0"/>
              </a:rPr>
              <a:t>. Using IBM watsonx.ai and IBM Granite models, it coordinates multiple specialized agents to deliver </a:t>
            </a:r>
            <a:r>
              <a:rPr lang="en-US" sz="1500" b="1" dirty="0" smtClean="0">
                <a:latin typeface="Times New Roman" pitchFamily="18" charset="0"/>
                <a:cs typeface="Times New Roman" pitchFamily="18" charset="0"/>
              </a:rPr>
              <a:t>accurate and data-driven farming recommendations</a:t>
            </a:r>
            <a:r>
              <a:rPr lang="en-US" sz="1500" dirty="0" smtClean="0">
                <a:latin typeface="Times New Roman" pitchFamily="18" charset="0"/>
                <a:cs typeface="Times New Roman" pitchFamily="18" charset="0"/>
              </a:rPr>
              <a:t>.</a:t>
            </a:r>
          </a:p>
          <a:p>
            <a:pPr algn="just"/>
            <a:endParaRPr lang="en-US" sz="1500" dirty="0" smtClean="0">
              <a:latin typeface="Times New Roman" pitchFamily="18" charset="0"/>
              <a:cs typeface="Times New Roman" pitchFamily="18" charset="0"/>
            </a:endParaRPr>
          </a:p>
          <a:p>
            <a:pPr algn="just"/>
            <a:r>
              <a:rPr lang="en-US" sz="1500" dirty="0" smtClean="0">
                <a:latin typeface="Times New Roman" pitchFamily="18" charset="0"/>
                <a:cs typeface="Times New Roman" pitchFamily="18" charset="0"/>
              </a:rPr>
              <a:t>Each agent performs a specific role—such as retrieving crop and soil data, analyzing weather conditions, detecting plant diseases, and generating farming advice—while working collaboratively. This </a:t>
            </a:r>
            <a:r>
              <a:rPr lang="en-US" sz="1500" b="1" dirty="0" smtClean="0">
                <a:latin typeface="Times New Roman" pitchFamily="18" charset="0"/>
                <a:cs typeface="Times New Roman" pitchFamily="18" charset="0"/>
              </a:rPr>
              <a:t>multi-agent approach</a:t>
            </a:r>
            <a:r>
              <a:rPr lang="en-US" sz="1500" dirty="0" smtClean="0">
                <a:latin typeface="Times New Roman" pitchFamily="18" charset="0"/>
                <a:cs typeface="Times New Roman" pitchFamily="18" charset="0"/>
              </a:rPr>
              <a:t> ensures efficient task execution and precise agricultural insights.</a:t>
            </a:r>
          </a:p>
          <a:p>
            <a:pPr algn="just"/>
            <a:endParaRPr lang="en-US" sz="1500" dirty="0" smtClean="0">
              <a:latin typeface="Times New Roman" pitchFamily="18" charset="0"/>
              <a:cs typeface="Times New Roman" pitchFamily="18" charset="0"/>
            </a:endParaRPr>
          </a:p>
          <a:p>
            <a:pPr algn="just"/>
            <a:r>
              <a:rPr lang="en-US" sz="1500" dirty="0" err="1" smtClean="0">
                <a:latin typeface="Times New Roman" pitchFamily="18" charset="0"/>
                <a:cs typeface="Times New Roman" pitchFamily="18" charset="0"/>
              </a:rPr>
              <a:t>Agentic</a:t>
            </a:r>
            <a:r>
              <a:rPr lang="en-US" sz="1500" dirty="0" smtClean="0">
                <a:latin typeface="Times New Roman" pitchFamily="18" charset="0"/>
                <a:cs typeface="Times New Roman" pitchFamily="18" charset="0"/>
              </a:rPr>
              <a:t> AI also brings </a:t>
            </a:r>
            <a:r>
              <a:rPr lang="en-US" sz="1500" b="1" dirty="0" smtClean="0">
                <a:latin typeface="Times New Roman" pitchFamily="18" charset="0"/>
                <a:cs typeface="Times New Roman" pitchFamily="18" charset="0"/>
              </a:rPr>
              <a:t>context awareness</a:t>
            </a:r>
            <a:r>
              <a:rPr lang="en-US" sz="1500" dirty="0" smtClean="0">
                <a:latin typeface="Times New Roman" pitchFamily="18" charset="0"/>
                <a:cs typeface="Times New Roman" pitchFamily="18" charset="0"/>
              </a:rPr>
              <a:t>, understanding key farming parameters such as crop type, soil condition, location, and growth stage to generate </a:t>
            </a:r>
            <a:r>
              <a:rPr lang="en-US" sz="1500" b="1" dirty="0" smtClean="0">
                <a:latin typeface="Times New Roman" pitchFamily="18" charset="0"/>
                <a:cs typeface="Times New Roman" pitchFamily="18" charset="0"/>
              </a:rPr>
              <a:t>personalized recommendations</a:t>
            </a:r>
            <a:r>
              <a:rPr lang="en-US" sz="1500" dirty="0" smtClean="0">
                <a:latin typeface="Times New Roman" pitchFamily="18" charset="0"/>
                <a:cs typeface="Times New Roman" pitchFamily="18" charset="0"/>
              </a:rPr>
              <a:t> for farmers.</a:t>
            </a:r>
          </a:p>
          <a:p>
            <a:pPr algn="just"/>
            <a:endParaRPr lang="en-US" sz="1500" dirty="0" smtClean="0">
              <a:latin typeface="Times New Roman" pitchFamily="18" charset="0"/>
              <a:cs typeface="Times New Roman" pitchFamily="18" charset="0"/>
            </a:endParaRPr>
          </a:p>
          <a:p>
            <a:pPr algn="just"/>
            <a:r>
              <a:rPr lang="en-US" sz="1500" dirty="0" smtClean="0">
                <a:latin typeface="Times New Roman" pitchFamily="18" charset="0"/>
                <a:cs typeface="Times New Roman" pitchFamily="18" charset="0"/>
              </a:rPr>
              <a:t>It supports </a:t>
            </a:r>
            <a:r>
              <a:rPr lang="en-US" sz="1500" b="1" dirty="0" smtClean="0">
                <a:latin typeface="Times New Roman" pitchFamily="18" charset="0"/>
                <a:cs typeface="Times New Roman" pitchFamily="18" charset="0"/>
              </a:rPr>
              <a:t>real-time adaptation</a:t>
            </a:r>
            <a:r>
              <a:rPr lang="en-US" sz="1500" dirty="0" smtClean="0">
                <a:latin typeface="Times New Roman" pitchFamily="18" charset="0"/>
                <a:cs typeface="Times New Roman" pitchFamily="18" charset="0"/>
              </a:rPr>
              <a:t>, continuously updating suggestions based on dynamic inputs like weather changes, crop health status, and farmer queries (e.g., irrigation needs or pest issues).</a:t>
            </a:r>
          </a:p>
          <a:p>
            <a:pPr algn="just"/>
            <a:endParaRPr lang="en-US" sz="1500" dirty="0" smtClean="0">
              <a:latin typeface="Times New Roman" pitchFamily="18" charset="0"/>
              <a:cs typeface="Times New Roman" pitchFamily="18" charset="0"/>
            </a:endParaRPr>
          </a:p>
          <a:p>
            <a:pPr algn="just"/>
            <a:r>
              <a:rPr lang="en-US" sz="1500" dirty="0" smtClean="0">
                <a:latin typeface="Times New Roman" pitchFamily="18" charset="0"/>
                <a:cs typeface="Times New Roman" pitchFamily="18" charset="0"/>
              </a:rPr>
              <a:t>Additionally, agents communicate with each other, enabling </a:t>
            </a:r>
            <a:r>
              <a:rPr lang="en-US" sz="1500" b="1" dirty="0" smtClean="0">
                <a:latin typeface="Times New Roman" pitchFamily="18" charset="0"/>
                <a:cs typeface="Times New Roman" pitchFamily="18" charset="0"/>
              </a:rPr>
              <a:t>better decision-making and integrated farming solutions</a:t>
            </a:r>
            <a:r>
              <a:rPr lang="en-US" sz="1500" dirty="0" smtClean="0">
                <a:latin typeface="Times New Roman" pitchFamily="18" charset="0"/>
                <a:cs typeface="Times New Roman" pitchFamily="18" charset="0"/>
              </a:rPr>
              <a:t>, such as combining weather forecasts with irrigation planning.</a:t>
            </a:r>
          </a:p>
          <a:p>
            <a:pPr algn="just"/>
            <a:endParaRPr lang="en-US" sz="1500" dirty="0" smtClean="0">
              <a:latin typeface="Times New Roman" pitchFamily="18" charset="0"/>
              <a:cs typeface="Times New Roman" pitchFamily="18" charset="0"/>
            </a:endParaRPr>
          </a:p>
          <a:p>
            <a:pPr algn="just"/>
            <a:r>
              <a:rPr lang="en-US" sz="1500" dirty="0" smtClean="0">
                <a:latin typeface="Times New Roman" pitchFamily="18" charset="0"/>
                <a:cs typeface="Times New Roman" pitchFamily="18" charset="0"/>
              </a:rPr>
              <a:t>Overall, </a:t>
            </a:r>
            <a:r>
              <a:rPr lang="en-US" sz="1500" dirty="0" err="1" smtClean="0">
                <a:latin typeface="Times New Roman" pitchFamily="18" charset="0"/>
                <a:cs typeface="Times New Roman" pitchFamily="18" charset="0"/>
              </a:rPr>
              <a:t>Agentic</a:t>
            </a:r>
            <a:r>
              <a:rPr lang="en-US" sz="1500" dirty="0" smtClean="0">
                <a:latin typeface="Times New Roman" pitchFamily="18" charset="0"/>
                <a:cs typeface="Times New Roman" pitchFamily="18" charset="0"/>
              </a:rPr>
              <a:t> AI makes the system </a:t>
            </a:r>
            <a:r>
              <a:rPr lang="en-US" sz="1500" b="1" dirty="0" smtClean="0">
                <a:latin typeface="Times New Roman" pitchFamily="18" charset="0"/>
                <a:cs typeface="Times New Roman" pitchFamily="18" charset="0"/>
              </a:rPr>
              <a:t>proactive, intelligent, and goal-driven</a:t>
            </a:r>
            <a:r>
              <a:rPr lang="en-US" sz="1500" dirty="0" smtClean="0">
                <a:latin typeface="Times New Roman" pitchFamily="18" charset="0"/>
                <a:cs typeface="Times New Roman" pitchFamily="18" charset="0"/>
              </a:rPr>
              <a:t>, acting like a smart digital agriculture expert that helps farmers improve productivity, reduce risks, and make informed farming decisions.</a:t>
            </a:r>
            <a:endParaRPr lang="en-US" sz="15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5570756"/>
          </a:xfrm>
          <a:prstGeom prst="rect">
            <a:avLst/>
          </a:prstGeom>
          <a:noFill/>
        </p:spPr>
        <p:txBody>
          <a:bodyPr wrap="square" rtlCol="0">
            <a:spAutoFit/>
          </a:bodyPr>
          <a:lstStyle/>
          <a:p>
            <a:pPr marL="285750" indent="-285750">
              <a:buFont typeface="Arial" panose="020B0604020202020204" pitchFamily="34" charset="0"/>
              <a:buChar char="•"/>
            </a:pPr>
            <a:r>
              <a:rPr lang="en-US" sz="2000" b="1" dirty="0" err="1" smtClean="0">
                <a:latin typeface="Times New Roman" pitchFamily="18" charset="0"/>
                <a:cs typeface="Times New Roman" pitchFamily="18" charset="0"/>
              </a:rPr>
              <a:t>Langflow</a:t>
            </a:r>
            <a:r>
              <a:rPr lang="en-US" sz="2000" b="1" dirty="0" smtClean="0">
                <a:latin typeface="Times New Roman" pitchFamily="18" charset="0"/>
                <a:cs typeface="Times New Roman" pitchFamily="18" charset="0"/>
              </a:rPr>
              <a:t> Platform</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For designing and orchestrating multi-agent workflows visually. It helps in building a structured pipeline for farming-related tasks such as crop advice, disease detection, and weather-based recommendations.</a:t>
            </a:r>
            <a:endParaRPr lang="en-US" sz="2000" dirty="0">
              <a:latin typeface="Times New Roman" pitchFamily="18" charset="0"/>
              <a:cs typeface="Times New Roman" pitchFamily="18" charset="0"/>
            </a:endParaRPr>
          </a:p>
          <a:p>
            <a:pPr marL="285750" indent="-285750">
              <a:buFont typeface="Arial" panose="020B0604020202020204" pitchFamily="34" charset="0"/>
              <a:buChar char="•"/>
            </a:pPr>
            <a:r>
              <a:rPr lang="en-US" sz="2000" b="1" dirty="0" smtClean="0">
                <a:latin typeface="Times New Roman" pitchFamily="18" charset="0"/>
                <a:cs typeface="Times New Roman" pitchFamily="18" charset="0"/>
              </a:rPr>
              <a:t>IBM Granite Model (IBM watsonx.ai)</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For example – </a:t>
            </a:r>
            <a:r>
              <a:rPr lang="en-US" sz="2000" i="1" dirty="0" smtClean="0">
                <a:latin typeface="Times New Roman" pitchFamily="18" charset="0"/>
                <a:cs typeface="Times New Roman" pitchFamily="18" charset="0"/>
              </a:rPr>
              <a:t>granite-3-2-8b-instruct</a:t>
            </a:r>
            <a:r>
              <a:rPr lang="en-US" sz="2000" dirty="0" smtClean="0">
                <a:latin typeface="Times New Roman" pitchFamily="18" charset="0"/>
                <a:cs typeface="Times New Roman" pitchFamily="18" charset="0"/>
              </a:rPr>
              <a:t> – used for natural language understanding, reasoning, and generating personalized farming advice based on user queries and agricultural data.</a:t>
            </a:r>
          </a:p>
          <a:p>
            <a:pPr marL="285750" indent="-285750">
              <a:buFont typeface="Arial" panose="020B0604020202020204" pitchFamily="34" charset="0"/>
              <a:buChar char="•"/>
            </a:pPr>
            <a:r>
              <a:rPr lang="en-US" sz="2000" b="1" dirty="0" smtClean="0">
                <a:latin typeface="Times New Roman" pitchFamily="18" charset="0"/>
                <a:cs typeface="Times New Roman" pitchFamily="18" charset="0"/>
              </a:rPr>
              <a:t>IBM Cloud</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It provides the infrastructure to build, deploy, and scale the Smart Farming Agent efficiently. IBM Cloud ensures a reliable, secure, and scalable environment for handling real-time agricultural data and AI services.</a:t>
            </a:r>
          </a:p>
          <a:p>
            <a:pPr marL="285750" indent="-285750">
              <a:buFont typeface="Arial" panose="020B0604020202020204" pitchFamily="34" charset="0"/>
              <a:buChar char="•"/>
            </a:pPr>
            <a:r>
              <a:rPr lang="en-US" sz="2000" b="1" dirty="0" smtClean="0">
                <a:latin typeface="Times New Roman" pitchFamily="18" charset="0"/>
                <a:cs typeface="Times New Roman" pitchFamily="18" charset="0"/>
              </a:rPr>
              <a:t>RAG (Retrieval-Augmented Generation)</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Used to first retrieve real agricultural data (such as ICAR guidelines, crop manuals, soil data, and pest information) and then generate accurate and trustworthy farming recommendations.</a:t>
            </a:r>
          </a:p>
          <a:p>
            <a:pPr marL="285750" indent="-285750">
              <a:buFont typeface="Arial" panose="020B0604020202020204" pitchFamily="34" charset="0"/>
              <a:buChar char="•"/>
            </a:pPr>
            <a:r>
              <a:rPr lang="en-US" sz="2000" b="1" dirty="0" smtClean="0">
                <a:latin typeface="Times New Roman" pitchFamily="18" charset="0"/>
                <a:cs typeface="Times New Roman" pitchFamily="18" charset="0"/>
              </a:rPr>
              <a:t>IBM Watsonx.ai</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r>
              <a:rPr lang="en-US" sz="2000" dirty="0" smtClean="0">
                <a:latin typeface="Times New Roman" pitchFamily="18" charset="0"/>
                <a:cs typeface="Times New Roman" pitchFamily="18" charset="0"/>
              </a:rPr>
              <a:t>Used for model deployment, embeddings, prompt management, and AI governance. It helps ensure the Smart Farming Agent delivers consistent, high-quality, and controlled AI responses.</a:t>
            </a:r>
            <a:endParaRPr lang="en-US" sz="1600" dirty="0">
              <a:latin typeface="Times New Roman" pitchFamily="18" charset="0"/>
              <a:cs typeface="Times New Roman" pitchFamily="18" charset="0"/>
            </a:endParaRPr>
          </a:p>
          <a:p>
            <a:endParaRPr lang="en-IN" sz="1600" dirty="0">
              <a:latin typeface="Times New Roman" pitchFamily="18" charset="0"/>
              <a:cs typeface="Times New Roman" pitchFamily="18" charset="0"/>
            </a:endParaRPr>
          </a:p>
        </p:txBody>
      </p:sp>
    </p:spTree>
    <p:extLst>
      <p:ext uri="{BB962C8B-B14F-4D97-AF65-F5344CB8AC3E}">
        <p14:creationId xmlns:p14="http://schemas.microsoft.com/office/powerpoint/2010/main" val="3764405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0"/>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50" name="Google Shape;150;p40"/>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1" name="Google Shape;151;p40"/>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2" name="Google Shape;152;p40"/>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p:cNvPicPr>
            <a:picLocks noChangeAspect="1"/>
          </p:cNvPicPr>
          <p:nvPr/>
        </p:nvPicPr>
        <p:blipFill>
          <a:blip r:embed="rId3"/>
          <a:stretch>
            <a:fillRect/>
          </a:stretch>
        </p:blipFill>
        <p:spPr>
          <a:xfrm>
            <a:off x="1624083" y="1045577"/>
            <a:ext cx="9758149" cy="546383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xmlns="" id="{ED65F54F-855A-0DB6-09A6-3212C5F7405B}"/>
              </a:ext>
            </a:extLst>
          </p:cNvPr>
          <p:cNvSpPr txBox="1"/>
          <p:nvPr/>
        </p:nvSpPr>
        <p:spPr>
          <a:xfrm>
            <a:off x="352425" y="1054608"/>
            <a:ext cx="11839575" cy="5755422"/>
          </a:xfrm>
          <a:prstGeom prst="rect">
            <a:avLst/>
          </a:prstGeom>
          <a:noFill/>
        </p:spPr>
        <p:txBody>
          <a:bodyPr wrap="square" rtlCol="0">
            <a:spAutoFit/>
          </a:bodyPr>
          <a:lstStyle/>
          <a:p>
            <a:pPr algn="just"/>
            <a:r>
              <a:rPr lang="en-US" sz="1600" dirty="0" smtClean="0">
                <a:latin typeface="Times New Roman" pitchFamily="18" charset="0"/>
                <a:cs typeface="Times New Roman" pitchFamily="18" charset="0"/>
              </a:rPr>
              <a:t>The proposed Smart Farming AI Agent introduces a </a:t>
            </a:r>
            <a:r>
              <a:rPr lang="en-US" sz="1600" b="1" dirty="0" smtClean="0">
                <a:latin typeface="Times New Roman" pitchFamily="18" charset="0"/>
                <a:cs typeface="Times New Roman" pitchFamily="18" charset="0"/>
              </a:rPr>
              <a:t>modern </a:t>
            </a:r>
            <a:r>
              <a:rPr lang="en-US" sz="1600" b="1" dirty="0" err="1" smtClean="0">
                <a:latin typeface="Times New Roman" pitchFamily="18" charset="0"/>
                <a:cs typeface="Times New Roman" pitchFamily="18" charset="0"/>
              </a:rPr>
              <a:t>Agentic</a:t>
            </a:r>
            <a:r>
              <a:rPr lang="en-US" sz="1600" b="1" dirty="0" smtClean="0">
                <a:latin typeface="Times New Roman" pitchFamily="18" charset="0"/>
                <a:cs typeface="Times New Roman" pitchFamily="18" charset="0"/>
              </a:rPr>
              <a:t> AI-based approach</a:t>
            </a:r>
            <a:r>
              <a:rPr lang="en-US" sz="1600" dirty="0" smtClean="0">
                <a:latin typeface="Times New Roman" pitchFamily="18" charset="0"/>
                <a:cs typeface="Times New Roman" pitchFamily="18" charset="0"/>
              </a:rPr>
              <a:t> to agriculture, making it more intelligent and decision-driven compared to traditional advisory systems.</a:t>
            </a:r>
          </a:p>
          <a:p>
            <a:pPr algn="just">
              <a:buFont typeface="Arial" pitchFamily="34" charset="0"/>
              <a:buChar char="•"/>
            </a:pPr>
            <a:r>
              <a:rPr lang="en-US" sz="1600" b="1" dirty="0" smtClean="0">
                <a:latin typeface="Times New Roman" pitchFamily="18" charset="0"/>
                <a:cs typeface="Times New Roman" pitchFamily="18" charset="0"/>
              </a:rPr>
              <a:t> </a:t>
            </a:r>
            <a:r>
              <a:rPr lang="en-US" sz="1600" b="1" dirty="0" err="1" smtClean="0">
                <a:latin typeface="Times New Roman" pitchFamily="18" charset="0"/>
                <a:cs typeface="Times New Roman" pitchFamily="18" charset="0"/>
              </a:rPr>
              <a:t>Agentic</a:t>
            </a:r>
            <a:r>
              <a:rPr lang="en-US" sz="1600" b="1" dirty="0" smtClean="0">
                <a:latin typeface="Times New Roman" pitchFamily="18" charset="0"/>
                <a:cs typeface="Times New Roman" pitchFamily="18" charset="0"/>
              </a:rPr>
              <a:t> AI–Driven Farming System</a:t>
            </a:r>
          </a:p>
          <a:p>
            <a:pPr algn="just"/>
            <a:r>
              <a:rPr lang="en-US" sz="1600" dirty="0" smtClean="0">
                <a:latin typeface="Times New Roman" pitchFamily="18" charset="0"/>
                <a:cs typeface="Times New Roman" pitchFamily="18" charset="0"/>
              </a:rPr>
              <a:t>Unlike basic </a:t>
            </a:r>
            <a:r>
              <a:rPr lang="en-US" sz="1600" dirty="0" err="1" smtClean="0">
                <a:latin typeface="Times New Roman" pitchFamily="18" charset="0"/>
                <a:cs typeface="Times New Roman" pitchFamily="18" charset="0"/>
              </a:rPr>
              <a:t>chatbots</a:t>
            </a:r>
            <a:r>
              <a:rPr lang="en-US" sz="1600" dirty="0" smtClean="0">
                <a:latin typeface="Times New Roman" pitchFamily="18" charset="0"/>
                <a:cs typeface="Times New Roman" pitchFamily="18" charset="0"/>
              </a:rPr>
              <a:t>, the system acts as an </a:t>
            </a:r>
            <a:r>
              <a:rPr lang="en-US" sz="1600" b="1" dirty="0" smtClean="0">
                <a:latin typeface="Times New Roman" pitchFamily="18" charset="0"/>
                <a:cs typeface="Times New Roman" pitchFamily="18" charset="0"/>
              </a:rPr>
              <a:t>autonomous farming assistant</a:t>
            </a:r>
            <a:r>
              <a:rPr lang="en-US" sz="1600" dirty="0" smtClean="0">
                <a:latin typeface="Times New Roman" pitchFamily="18" charset="0"/>
                <a:cs typeface="Times New Roman" pitchFamily="18" charset="0"/>
              </a:rPr>
              <a:t> that can plan, reason, and take multi-step decisions to provide complete agricultural guidance.</a:t>
            </a:r>
          </a:p>
          <a:p>
            <a:pPr algn="just">
              <a:buFont typeface="Arial" pitchFamily="34" charset="0"/>
              <a:buChar char="•"/>
            </a:pPr>
            <a:r>
              <a:rPr lang="en-US" sz="1600" b="1" dirty="0" smtClean="0">
                <a:latin typeface="Times New Roman" pitchFamily="18" charset="0"/>
                <a:cs typeface="Times New Roman" pitchFamily="18" charset="0"/>
              </a:rPr>
              <a:t> Multi-Agent Collaboration</a:t>
            </a:r>
          </a:p>
          <a:p>
            <a:pPr algn="just"/>
            <a:r>
              <a:rPr lang="en-US" sz="1600" dirty="0" smtClean="0">
                <a:latin typeface="Times New Roman" pitchFamily="18" charset="0"/>
                <a:cs typeface="Times New Roman" pitchFamily="18" charset="0"/>
              </a:rPr>
              <a:t>The system uses a </a:t>
            </a:r>
            <a:r>
              <a:rPr lang="en-US" sz="1600" b="1" dirty="0" smtClean="0">
                <a:latin typeface="Times New Roman" pitchFamily="18" charset="0"/>
                <a:cs typeface="Times New Roman" pitchFamily="18" charset="0"/>
              </a:rPr>
              <a:t>multi-agent architecture</a:t>
            </a:r>
            <a:r>
              <a:rPr lang="en-US" sz="1600" dirty="0" smtClean="0">
                <a:latin typeface="Times New Roman" pitchFamily="18" charset="0"/>
                <a:cs typeface="Times New Roman" pitchFamily="18" charset="0"/>
              </a:rPr>
              <a:t> where different agents handle specific tasks such as crop advisory, soil analysis, weather interpretation, and pest/disease recommendations. These agents collaborate to generate accurate and reliable outputs.</a:t>
            </a:r>
          </a:p>
          <a:p>
            <a:pPr algn="just">
              <a:buFont typeface="Arial" pitchFamily="34" charset="0"/>
              <a:buChar char="•"/>
            </a:pPr>
            <a:r>
              <a:rPr lang="en-US" sz="1600" b="1" dirty="0" smtClean="0">
                <a:latin typeface="Times New Roman" pitchFamily="18" charset="0"/>
                <a:cs typeface="Times New Roman" pitchFamily="18" charset="0"/>
              </a:rPr>
              <a:t> Context-Aware Personalized Advice</a:t>
            </a:r>
          </a:p>
          <a:p>
            <a:pPr algn="just"/>
            <a:r>
              <a:rPr lang="en-US" sz="1600" dirty="0" smtClean="0">
                <a:latin typeface="Times New Roman" pitchFamily="18" charset="0"/>
                <a:cs typeface="Times New Roman" pitchFamily="18" charset="0"/>
              </a:rPr>
              <a:t>The model understands </a:t>
            </a:r>
            <a:r>
              <a:rPr lang="en-US" sz="1600" b="1" dirty="0" smtClean="0">
                <a:latin typeface="Times New Roman" pitchFamily="18" charset="0"/>
                <a:cs typeface="Times New Roman" pitchFamily="18" charset="0"/>
              </a:rPr>
              <a:t>farmer-specific context</a:t>
            </a:r>
            <a:r>
              <a:rPr lang="en-US" sz="1600" dirty="0" smtClean="0">
                <a:latin typeface="Times New Roman" pitchFamily="18" charset="0"/>
                <a:cs typeface="Times New Roman" pitchFamily="18" charset="0"/>
              </a:rPr>
              <a:t> such as crop type, soil condition, location, and growth stage to deliver </a:t>
            </a:r>
            <a:r>
              <a:rPr lang="en-US" sz="1600" b="1" dirty="0" smtClean="0">
                <a:latin typeface="Times New Roman" pitchFamily="18" charset="0"/>
                <a:cs typeface="Times New Roman" pitchFamily="18" charset="0"/>
              </a:rPr>
              <a:t>highly personalized farming solutions</a:t>
            </a:r>
            <a:r>
              <a:rPr lang="en-US" sz="1600" dirty="0" smtClean="0">
                <a:latin typeface="Times New Roman" pitchFamily="18" charset="0"/>
                <a:cs typeface="Times New Roman" pitchFamily="18" charset="0"/>
              </a:rPr>
              <a:t> instead of generic suggestions.</a:t>
            </a:r>
          </a:p>
          <a:p>
            <a:pPr algn="just">
              <a:buFont typeface="Arial" pitchFamily="34" charset="0"/>
              <a:buChar char="•"/>
            </a:pPr>
            <a:r>
              <a:rPr lang="en-US" sz="1600" b="1" dirty="0" smtClean="0">
                <a:latin typeface="Times New Roman" pitchFamily="18" charset="0"/>
                <a:cs typeface="Times New Roman" pitchFamily="18" charset="0"/>
              </a:rPr>
              <a:t> RAG-Based Trusted Knowledge Integration</a:t>
            </a:r>
          </a:p>
          <a:p>
            <a:pPr algn="just"/>
            <a:r>
              <a:rPr lang="en-US" sz="1600" dirty="0" smtClean="0">
                <a:latin typeface="Times New Roman" pitchFamily="18" charset="0"/>
                <a:cs typeface="Times New Roman" pitchFamily="18" charset="0"/>
              </a:rPr>
              <a:t>By integrating </a:t>
            </a:r>
            <a:r>
              <a:rPr lang="en-US" sz="1600" b="1" dirty="0" smtClean="0">
                <a:latin typeface="Times New Roman" pitchFamily="18" charset="0"/>
                <a:cs typeface="Times New Roman" pitchFamily="18" charset="0"/>
              </a:rPr>
              <a:t>Retrieval-Augmented Generation (RAG)</a:t>
            </a:r>
            <a:r>
              <a:rPr lang="en-US" sz="1600" dirty="0" smtClean="0">
                <a:latin typeface="Times New Roman" pitchFamily="18" charset="0"/>
                <a:cs typeface="Times New Roman" pitchFamily="18" charset="0"/>
              </a:rPr>
              <a:t>, the system first fetches verified agricultural data (ICAR guidelines, crop manuals, weather insights) before generating responses, ensuring </a:t>
            </a:r>
            <a:r>
              <a:rPr lang="en-US" sz="1600" b="1" dirty="0" smtClean="0">
                <a:latin typeface="Times New Roman" pitchFamily="18" charset="0"/>
                <a:cs typeface="Times New Roman" pitchFamily="18" charset="0"/>
              </a:rPr>
              <a:t>accuracy and reliability</a:t>
            </a:r>
            <a:r>
              <a:rPr lang="en-US" sz="1600" dirty="0" smtClean="0">
                <a:latin typeface="Times New Roman" pitchFamily="18" charset="0"/>
                <a:cs typeface="Times New Roman" pitchFamily="18" charset="0"/>
              </a:rPr>
              <a:t>.</a:t>
            </a:r>
          </a:p>
          <a:p>
            <a:pPr algn="just">
              <a:buFont typeface="Arial" pitchFamily="34" charset="0"/>
              <a:buChar char="•"/>
            </a:pPr>
            <a:r>
              <a:rPr lang="en-US" sz="1600" b="1" dirty="0" smtClean="0">
                <a:latin typeface="Times New Roman" pitchFamily="18" charset="0"/>
                <a:cs typeface="Times New Roman" pitchFamily="18" charset="0"/>
              </a:rPr>
              <a:t> Real-Time Adaptive Recommendations</a:t>
            </a:r>
          </a:p>
          <a:p>
            <a:pPr algn="just"/>
            <a:r>
              <a:rPr lang="en-US" sz="1600" dirty="0" smtClean="0">
                <a:latin typeface="Times New Roman" pitchFamily="18" charset="0"/>
                <a:cs typeface="Times New Roman" pitchFamily="18" charset="0"/>
              </a:rPr>
              <a:t>The agent continuously adapts to </a:t>
            </a:r>
            <a:r>
              <a:rPr lang="en-US" sz="1600" b="1" dirty="0" smtClean="0">
                <a:latin typeface="Times New Roman" pitchFamily="18" charset="0"/>
                <a:cs typeface="Times New Roman" pitchFamily="18" charset="0"/>
              </a:rPr>
              <a:t>changing conditions like weather updates, crop health, and user inputs</a:t>
            </a:r>
            <a:r>
              <a:rPr lang="en-US" sz="1600" dirty="0" smtClean="0">
                <a:latin typeface="Times New Roman" pitchFamily="18" charset="0"/>
                <a:cs typeface="Times New Roman" pitchFamily="18" charset="0"/>
              </a:rPr>
              <a:t>, enabling dynamic and real-time decision support for farmers.</a:t>
            </a:r>
          </a:p>
          <a:p>
            <a:pPr algn="just">
              <a:buFont typeface="Arial" pitchFamily="34" charset="0"/>
              <a:buChar char="•"/>
            </a:pPr>
            <a:r>
              <a:rPr lang="en-US" sz="1600" b="1" dirty="0" smtClean="0">
                <a:latin typeface="Times New Roman" pitchFamily="18" charset="0"/>
                <a:cs typeface="Times New Roman" pitchFamily="18" charset="0"/>
              </a:rPr>
              <a:t> Scalable Cloud &amp; IBM Ecosystem Integration</a:t>
            </a:r>
          </a:p>
          <a:p>
            <a:pPr algn="just"/>
            <a:r>
              <a:rPr lang="en-US" sz="1600" dirty="0" smtClean="0">
                <a:latin typeface="Times New Roman" pitchFamily="18" charset="0"/>
                <a:cs typeface="Times New Roman" pitchFamily="18" charset="0"/>
              </a:rPr>
              <a:t>Built using </a:t>
            </a:r>
            <a:r>
              <a:rPr lang="en-US" sz="1600" b="1" dirty="0" smtClean="0">
                <a:latin typeface="Times New Roman" pitchFamily="18" charset="0"/>
                <a:cs typeface="Times New Roman" pitchFamily="18" charset="0"/>
              </a:rPr>
              <a:t>IBM Watsonx.ai, IBM Granite models, </a:t>
            </a:r>
            <a:r>
              <a:rPr lang="en-US" sz="1600" b="1" dirty="0" err="1" smtClean="0">
                <a:latin typeface="Times New Roman" pitchFamily="18" charset="0"/>
                <a:cs typeface="Times New Roman" pitchFamily="18" charset="0"/>
              </a:rPr>
              <a:t>Langflow</a:t>
            </a:r>
            <a:r>
              <a:rPr lang="en-US" sz="1600" b="1" dirty="0" smtClean="0">
                <a:latin typeface="Times New Roman" pitchFamily="18" charset="0"/>
                <a:cs typeface="Times New Roman" pitchFamily="18" charset="0"/>
              </a:rPr>
              <a:t>, and IBM Cloud</a:t>
            </a:r>
            <a:r>
              <a:rPr lang="en-US" sz="1600" dirty="0" smtClean="0">
                <a:latin typeface="Times New Roman" pitchFamily="18" charset="0"/>
                <a:cs typeface="Times New Roman" pitchFamily="18" charset="0"/>
              </a:rPr>
              <a:t>, the system ensures </a:t>
            </a:r>
            <a:r>
              <a:rPr lang="en-US" sz="1600" b="1" dirty="0" smtClean="0">
                <a:latin typeface="Times New Roman" pitchFamily="18" charset="0"/>
                <a:cs typeface="Times New Roman" pitchFamily="18" charset="0"/>
              </a:rPr>
              <a:t>scalability, security, and enterprise-level AI governance</a:t>
            </a:r>
            <a:r>
              <a:rPr lang="en-US" sz="1600" dirty="0" smtClean="0">
                <a:latin typeface="Times New Roman" pitchFamily="18" charset="0"/>
                <a:cs typeface="Times New Roman" pitchFamily="18" charset="0"/>
              </a:rPr>
              <a:t>.</a:t>
            </a:r>
          </a:p>
          <a:p>
            <a:pPr algn="just">
              <a:buFont typeface="Arial" pitchFamily="34" charset="0"/>
              <a:buChar char="•"/>
            </a:pPr>
            <a:r>
              <a:rPr lang="en-US" sz="1600" b="1" dirty="0" smtClean="0">
                <a:latin typeface="Times New Roman" pitchFamily="18" charset="0"/>
                <a:cs typeface="Times New Roman" pitchFamily="18" charset="0"/>
              </a:rPr>
              <a:t>Overall Uniqueness</a:t>
            </a:r>
          </a:p>
          <a:p>
            <a:pPr algn="just"/>
            <a:r>
              <a:rPr lang="en-US" sz="1600" dirty="0" smtClean="0">
                <a:latin typeface="Times New Roman" pitchFamily="18" charset="0"/>
                <a:cs typeface="Times New Roman" pitchFamily="18" charset="0"/>
              </a:rPr>
              <a:t>This project stands out by combining </a:t>
            </a:r>
            <a:r>
              <a:rPr lang="en-US" sz="1600" b="1" dirty="0" err="1" smtClean="0">
                <a:latin typeface="Times New Roman" pitchFamily="18" charset="0"/>
                <a:cs typeface="Times New Roman" pitchFamily="18" charset="0"/>
              </a:rPr>
              <a:t>Agentic</a:t>
            </a:r>
            <a:r>
              <a:rPr lang="en-US" sz="1600" b="1" dirty="0" smtClean="0">
                <a:latin typeface="Times New Roman" pitchFamily="18" charset="0"/>
                <a:cs typeface="Times New Roman" pitchFamily="18" charset="0"/>
              </a:rPr>
              <a:t> AI + Multi-Agent System + RAG + Real-time agricultural intelligence</a:t>
            </a:r>
            <a:r>
              <a:rPr lang="en-US" sz="1600" dirty="0" smtClean="0">
                <a:latin typeface="Times New Roman" pitchFamily="18" charset="0"/>
                <a:cs typeface="Times New Roman" pitchFamily="18" charset="0"/>
              </a:rPr>
              <a:t>, creating a </a:t>
            </a:r>
            <a:r>
              <a:rPr lang="en-US" sz="1600" b="1" dirty="0" smtClean="0">
                <a:latin typeface="Times New Roman" pitchFamily="18" charset="0"/>
                <a:cs typeface="Times New Roman" pitchFamily="18" charset="0"/>
              </a:rPr>
              <a:t>smart digital farming assistant that actively supports farmers in decision-making and productivity improvement.</a:t>
            </a:r>
            <a:endParaRPr lang="en-US" sz="16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91796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xmlns=""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u="sng" dirty="0">
                <a:solidFill>
                  <a:srgbClr val="2B3541"/>
                </a:solidFill>
                <a:latin typeface="Times New Roman"/>
                <a:ea typeface="Times New Roman"/>
                <a:cs typeface="Times New Roman"/>
                <a:sym typeface="Times New Roman"/>
              </a:rPr>
              <a:t>https://github.com/Vishal0307/Vishal-/tree/main</a:t>
            </a:r>
            <a:endParaRPr lang="en-US" sz="1850" u="sng" dirty="0" smtClean="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b="1" dirty="0" smtClean="0">
                <a:solidFill>
                  <a:srgbClr val="2B3541"/>
                </a:solidFill>
                <a:latin typeface="Times New Roman"/>
                <a:ea typeface="Times New Roman"/>
                <a:cs typeface="Times New Roman"/>
                <a:sym typeface="Times New Roman"/>
              </a:rPr>
              <a:t>Uploaded </a:t>
            </a:r>
            <a:r>
              <a:rPr lang="en-US" sz="1850" b="1" dirty="0">
                <a:solidFill>
                  <a:srgbClr val="2B3541"/>
                </a:solidFill>
                <a:latin typeface="Times New Roman"/>
                <a:ea typeface="Times New Roman"/>
                <a:cs typeface="Times New Roman"/>
                <a:sym typeface="Times New Roman"/>
              </a:rPr>
              <a:t>following three files into </a:t>
            </a:r>
            <a:r>
              <a:rPr lang="en-US" sz="1850" b="1" dirty="0" err="1" smtClean="0">
                <a:solidFill>
                  <a:srgbClr val="2B3541"/>
                </a:solidFill>
                <a:latin typeface="Times New Roman"/>
                <a:ea typeface="Times New Roman"/>
                <a:cs typeface="Times New Roman"/>
                <a:sym typeface="Times New Roman"/>
              </a:rPr>
              <a:t>github</a:t>
            </a:r>
            <a:r>
              <a:rPr lang="en-US" sz="1850" b="1" dirty="0" smtClean="0">
                <a:solidFill>
                  <a:srgbClr val="2B3541"/>
                </a:solidFill>
                <a:latin typeface="Times New Roman"/>
                <a:ea typeface="Times New Roman"/>
                <a:cs typeface="Times New Roman"/>
                <a:sym typeface="Times New Roman"/>
              </a:rPr>
              <a:t> </a:t>
            </a:r>
            <a:r>
              <a:rPr lang="en-US" sz="1850" b="1" dirty="0">
                <a:solidFill>
                  <a:srgbClr val="2B3541"/>
                </a:solidFill>
                <a:latin typeface="Times New Roman"/>
                <a:ea typeface="Times New Roman"/>
                <a:cs typeface="Times New Roman"/>
                <a:sym typeface="Times New Roman"/>
              </a:rPr>
              <a:t>repository  </a:t>
            </a:r>
            <a:r>
              <a:rPr lang="en-US" sz="1850" dirty="0">
                <a:solidFill>
                  <a:srgbClr val="2B3541"/>
                </a:solidFill>
                <a:latin typeface="Times New Roman"/>
                <a:ea typeface="Times New Roman"/>
                <a:cs typeface="Times New Roman"/>
                <a:sym typeface="Times New Roman"/>
              </a:rPr>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smtClean="0">
                <a:solidFill>
                  <a:srgbClr val="2B3541"/>
                </a:solidFill>
                <a:latin typeface="Times New Roman"/>
                <a:ea typeface="Times New Roman"/>
                <a:cs typeface="Times New Roman"/>
                <a:sym typeface="Times New Roman"/>
              </a:rPr>
              <a:t>AgriGenAI.json</a:t>
            </a:r>
            <a:endParaRPr lang="en-US" sz="1850" dirty="0" smtClean="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smtClean="0">
                <a:solidFill>
                  <a:srgbClr val="2B3541"/>
                </a:solidFill>
                <a:latin typeface="Times New Roman"/>
                <a:ea typeface="Times New Roman"/>
                <a:cs typeface="Times New Roman"/>
                <a:sym typeface="Times New Roman"/>
              </a:rPr>
              <a:t>2</a:t>
            </a:r>
            <a:r>
              <a:rPr lang="en-US" sz="1850" dirty="0">
                <a:solidFill>
                  <a:srgbClr val="2B3541"/>
                </a:solidFill>
                <a:latin typeface="Times New Roman"/>
                <a:ea typeface="Times New Roman"/>
                <a:cs typeface="Times New Roman"/>
                <a:sym typeface="Times New Roman"/>
              </a:rPr>
              <a:t>) </a:t>
            </a:r>
            <a:r>
              <a:rPr lang="en-US" sz="1850" dirty="0" err="1" smtClean="0">
                <a:solidFill>
                  <a:srgbClr val="2B3541"/>
                </a:solidFill>
                <a:latin typeface="Times New Roman"/>
                <a:ea typeface="Times New Roman"/>
                <a:cs typeface="Times New Roman"/>
                <a:sym typeface="Times New Roman"/>
              </a:rPr>
              <a:t>AgriGenAI</a:t>
            </a:r>
            <a:r>
              <a:rPr lang="en-US" sz="1850" dirty="0" smtClean="0">
                <a:solidFill>
                  <a:srgbClr val="2B3541"/>
                </a:solidFill>
                <a:latin typeface="Times New Roman"/>
                <a:ea typeface="Times New Roman"/>
                <a:cs typeface="Times New Roman"/>
                <a:sym typeface="Times New Roman"/>
              </a:rPr>
              <a:t> Vishal Patel</a:t>
            </a:r>
            <a:r>
              <a:rPr lang="en-US" sz="1850" dirty="0" smtClean="0">
                <a:solidFill>
                  <a:srgbClr val="2B3541"/>
                </a:solidFill>
                <a:latin typeface="Times New Roman"/>
                <a:ea typeface="Times New Roman"/>
                <a:cs typeface="Times New Roman"/>
                <a:sym typeface="Times New Roman"/>
              </a:rPr>
              <a:t>.pdf </a:t>
            </a:r>
            <a:endParaRPr lang="en-US" sz="1850" dirty="0" smtClean="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smtClean="0">
                <a:solidFill>
                  <a:srgbClr val="2B3541"/>
                </a:solidFill>
                <a:latin typeface="Times New Roman"/>
                <a:ea typeface="Times New Roman"/>
                <a:cs typeface="Times New Roman"/>
                <a:sym typeface="Times New Roman"/>
              </a:rPr>
              <a:t>3</a:t>
            </a:r>
            <a:r>
              <a:rPr lang="en-US" sz="1850" dirty="0">
                <a:solidFill>
                  <a:srgbClr val="2B3541"/>
                </a:solidFill>
                <a:latin typeface="Times New Roman"/>
                <a:ea typeface="Times New Roman"/>
                <a:cs typeface="Times New Roman"/>
                <a:sym typeface="Times New Roman"/>
              </a:rPr>
              <a:t>) </a:t>
            </a:r>
            <a:r>
              <a:rPr lang="en-US" sz="1850" dirty="0" smtClean="0">
                <a:solidFill>
                  <a:srgbClr val="2B3541"/>
                </a:solidFill>
                <a:latin typeface="Times New Roman"/>
                <a:ea typeface="Times New Roman"/>
                <a:cs typeface="Times New Roman"/>
                <a:sym typeface="Times New Roman"/>
              </a:rPr>
              <a:t>FDP_BVM_Vishal_AgriGenAI.pptx</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390049" y="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266700" y="764515"/>
            <a:ext cx="11753850" cy="4277001"/>
          </a:xfrm>
          <a:prstGeom prst="rect">
            <a:avLst/>
          </a:prstGeom>
          <a:noFill/>
          <a:ln>
            <a:noFill/>
          </a:ln>
        </p:spPr>
        <p:txBody>
          <a:bodyPr spcFirstLastPara="1" wrap="square" lIns="0" tIns="0" rIns="0" bIns="0" anchor="t" anchorCtr="0">
            <a:noAutofit/>
          </a:bodyPr>
          <a:lstStyle/>
          <a:p>
            <a:pPr algn="just"/>
            <a:r>
              <a:rPr lang="en-US" sz="1700" dirty="0" smtClean="0">
                <a:latin typeface="Times New Roman" pitchFamily="18" charset="0"/>
                <a:cs typeface="Times New Roman" pitchFamily="18" charset="0"/>
              </a:rPr>
              <a:t>The Smart Farming AI Agent has strong potential for future expansion into a more advanced, real-world agricultural intelligence system.</a:t>
            </a:r>
          </a:p>
          <a:p>
            <a:pPr algn="just">
              <a:buFont typeface="Arial" pitchFamily="34" charset="0"/>
              <a:buChar char="•"/>
            </a:pPr>
            <a:r>
              <a:rPr lang="en-US" sz="1700" b="1" dirty="0" smtClean="0">
                <a:latin typeface="Times New Roman" pitchFamily="18" charset="0"/>
                <a:cs typeface="Times New Roman" pitchFamily="18" charset="0"/>
              </a:rPr>
              <a:t> </a:t>
            </a:r>
            <a:r>
              <a:rPr lang="en-US" sz="1700" b="1" dirty="0" err="1" smtClean="0">
                <a:latin typeface="Times New Roman" pitchFamily="18" charset="0"/>
                <a:cs typeface="Times New Roman" pitchFamily="18" charset="0"/>
              </a:rPr>
              <a:t>IoT</a:t>
            </a:r>
            <a:r>
              <a:rPr lang="en-US" sz="1700" b="1" dirty="0" smtClean="0">
                <a:latin typeface="Times New Roman" pitchFamily="18" charset="0"/>
                <a:cs typeface="Times New Roman" pitchFamily="18" charset="0"/>
              </a:rPr>
              <a:t> &amp; Sensor Integration</a:t>
            </a:r>
          </a:p>
          <a:p>
            <a:pPr algn="just"/>
            <a:r>
              <a:rPr lang="en-US" sz="1700" dirty="0" smtClean="0">
                <a:latin typeface="Times New Roman" pitchFamily="18" charset="0"/>
                <a:cs typeface="Times New Roman" pitchFamily="18" charset="0"/>
              </a:rPr>
              <a:t>In the future, the system can be connected with </a:t>
            </a:r>
            <a:r>
              <a:rPr lang="en-US" sz="1700" b="1" dirty="0" err="1" smtClean="0">
                <a:latin typeface="Times New Roman" pitchFamily="18" charset="0"/>
                <a:cs typeface="Times New Roman" pitchFamily="18" charset="0"/>
              </a:rPr>
              <a:t>IoT</a:t>
            </a:r>
            <a:r>
              <a:rPr lang="en-US" sz="1700" b="1" dirty="0" smtClean="0">
                <a:latin typeface="Times New Roman" pitchFamily="18" charset="0"/>
                <a:cs typeface="Times New Roman" pitchFamily="18" charset="0"/>
              </a:rPr>
              <a:t> devices and smart sensors</a:t>
            </a:r>
            <a:r>
              <a:rPr lang="en-US" sz="1700" dirty="0" smtClean="0">
                <a:latin typeface="Times New Roman" pitchFamily="18" charset="0"/>
                <a:cs typeface="Times New Roman" pitchFamily="18" charset="0"/>
              </a:rPr>
              <a:t> to collect real-time data on soil moisture, temperature, humidity, and crop health for more accurate recommendations.</a:t>
            </a:r>
          </a:p>
          <a:p>
            <a:pPr algn="just">
              <a:buFont typeface="Arial" pitchFamily="34" charset="0"/>
              <a:buChar char="•"/>
            </a:pPr>
            <a:r>
              <a:rPr lang="en-US" sz="1700" b="1" dirty="0" smtClean="0">
                <a:latin typeface="Times New Roman" pitchFamily="18" charset="0"/>
                <a:cs typeface="Times New Roman" pitchFamily="18" charset="0"/>
              </a:rPr>
              <a:t> Mobile App for Farmers</a:t>
            </a:r>
          </a:p>
          <a:p>
            <a:pPr algn="just"/>
            <a:r>
              <a:rPr lang="en-US" sz="1700" dirty="0" smtClean="0">
                <a:latin typeface="Times New Roman" pitchFamily="18" charset="0"/>
                <a:cs typeface="Times New Roman" pitchFamily="18" charset="0"/>
              </a:rPr>
              <a:t>A dedicated </a:t>
            </a:r>
            <a:r>
              <a:rPr lang="en-US" sz="1700" b="1" dirty="0" smtClean="0">
                <a:latin typeface="Times New Roman" pitchFamily="18" charset="0"/>
                <a:cs typeface="Times New Roman" pitchFamily="18" charset="0"/>
              </a:rPr>
              <a:t>mobile application (voice-enabled and multilingual)</a:t>
            </a:r>
            <a:r>
              <a:rPr lang="en-US" sz="1700" dirty="0" smtClean="0">
                <a:latin typeface="Times New Roman" pitchFamily="18" charset="0"/>
                <a:cs typeface="Times New Roman" pitchFamily="18" charset="0"/>
              </a:rPr>
              <a:t> can be developed so that farmers can easily access farming advice in local languages.</a:t>
            </a:r>
          </a:p>
          <a:p>
            <a:pPr algn="just">
              <a:buFont typeface="Arial" pitchFamily="34" charset="0"/>
              <a:buChar char="•"/>
            </a:pPr>
            <a:r>
              <a:rPr lang="en-US" sz="1700" b="1" dirty="0" smtClean="0">
                <a:latin typeface="Times New Roman" pitchFamily="18" charset="0"/>
                <a:cs typeface="Times New Roman" pitchFamily="18" charset="0"/>
              </a:rPr>
              <a:t> Satellite &amp; Drone Data Analysis</a:t>
            </a:r>
          </a:p>
          <a:p>
            <a:pPr algn="just"/>
            <a:r>
              <a:rPr lang="en-US" sz="1700" dirty="0" smtClean="0">
                <a:latin typeface="Times New Roman" pitchFamily="18" charset="0"/>
                <a:cs typeface="Times New Roman" pitchFamily="18" charset="0"/>
              </a:rPr>
              <a:t>Integration with </a:t>
            </a:r>
            <a:r>
              <a:rPr lang="en-US" sz="1700" b="1" dirty="0" smtClean="0">
                <a:latin typeface="Times New Roman" pitchFamily="18" charset="0"/>
                <a:cs typeface="Times New Roman" pitchFamily="18" charset="0"/>
              </a:rPr>
              <a:t>satellite imagery and drone data</a:t>
            </a:r>
            <a:r>
              <a:rPr lang="en-US" sz="1700" dirty="0" smtClean="0">
                <a:latin typeface="Times New Roman" pitchFamily="18" charset="0"/>
                <a:cs typeface="Times New Roman" pitchFamily="18" charset="0"/>
              </a:rPr>
              <a:t> can help in large-scale crop monitoring, disease detection, and yield prediction.</a:t>
            </a:r>
          </a:p>
          <a:p>
            <a:pPr algn="just">
              <a:buFont typeface="Arial" pitchFamily="34" charset="0"/>
              <a:buChar char="•"/>
            </a:pPr>
            <a:r>
              <a:rPr lang="en-US" sz="1700" b="1" dirty="0" smtClean="0">
                <a:latin typeface="Times New Roman" pitchFamily="18" charset="0"/>
                <a:cs typeface="Times New Roman" pitchFamily="18" charset="0"/>
              </a:rPr>
              <a:t>Voice-Based AI Assistant</a:t>
            </a:r>
          </a:p>
          <a:p>
            <a:pPr algn="just"/>
            <a:r>
              <a:rPr lang="en-US" sz="1700" dirty="0" smtClean="0">
                <a:latin typeface="Times New Roman" pitchFamily="18" charset="0"/>
                <a:cs typeface="Times New Roman" pitchFamily="18" charset="0"/>
              </a:rPr>
              <a:t>A </a:t>
            </a:r>
            <a:r>
              <a:rPr lang="en-US" sz="1700" b="1" dirty="0" smtClean="0">
                <a:latin typeface="Times New Roman" pitchFamily="18" charset="0"/>
                <a:cs typeface="Times New Roman" pitchFamily="18" charset="0"/>
              </a:rPr>
              <a:t>voice-first farming assistant</a:t>
            </a:r>
            <a:r>
              <a:rPr lang="en-US" sz="1700" dirty="0" smtClean="0">
                <a:latin typeface="Times New Roman" pitchFamily="18" charset="0"/>
                <a:cs typeface="Times New Roman" pitchFamily="18" charset="0"/>
              </a:rPr>
              <a:t> can be introduced to support farmers with low literacy levels, enabling hands-free interaction in regional languages.</a:t>
            </a:r>
          </a:p>
          <a:p>
            <a:pPr algn="just">
              <a:buFont typeface="Arial" pitchFamily="34" charset="0"/>
              <a:buChar char="•"/>
            </a:pPr>
            <a:r>
              <a:rPr lang="en-US" sz="1700" b="1" dirty="0" smtClean="0">
                <a:latin typeface="Times New Roman" pitchFamily="18" charset="0"/>
                <a:cs typeface="Times New Roman" pitchFamily="18" charset="0"/>
              </a:rPr>
              <a:t> Government Scheme Integration</a:t>
            </a:r>
          </a:p>
          <a:p>
            <a:pPr algn="just"/>
            <a:r>
              <a:rPr lang="en-US" sz="1700" dirty="0" smtClean="0">
                <a:latin typeface="Times New Roman" pitchFamily="18" charset="0"/>
                <a:cs typeface="Times New Roman" pitchFamily="18" charset="0"/>
              </a:rPr>
              <a:t>The system can be extended to provide information about </a:t>
            </a:r>
            <a:r>
              <a:rPr lang="en-US" sz="1700" b="1" dirty="0" smtClean="0">
                <a:latin typeface="Times New Roman" pitchFamily="18" charset="0"/>
                <a:cs typeface="Times New Roman" pitchFamily="18" charset="0"/>
              </a:rPr>
              <a:t>government subsidies, crop insurance, and agricultural schemes</a:t>
            </a:r>
            <a:r>
              <a:rPr lang="en-US" sz="1700" dirty="0" smtClean="0">
                <a:latin typeface="Times New Roman" pitchFamily="18" charset="0"/>
                <a:cs typeface="Times New Roman" pitchFamily="18" charset="0"/>
              </a:rPr>
              <a:t> based on user location and crop type.</a:t>
            </a:r>
          </a:p>
          <a:p>
            <a:pPr algn="just">
              <a:buFont typeface="Arial" pitchFamily="34" charset="0"/>
              <a:buChar char="•"/>
            </a:pPr>
            <a:r>
              <a:rPr lang="en-US" sz="1700" b="1" dirty="0" smtClean="0">
                <a:latin typeface="Times New Roman" pitchFamily="18" charset="0"/>
                <a:cs typeface="Times New Roman" pitchFamily="18" charset="0"/>
              </a:rPr>
              <a:t> Fully Autonomous Farming Advisor</a:t>
            </a:r>
          </a:p>
          <a:p>
            <a:pPr algn="just"/>
            <a:r>
              <a:rPr lang="en-US" sz="1700" dirty="0" smtClean="0">
                <a:latin typeface="Times New Roman" pitchFamily="18" charset="0"/>
                <a:cs typeface="Times New Roman" pitchFamily="18" charset="0"/>
              </a:rPr>
              <a:t>In the long term, the system can evolve into a </a:t>
            </a:r>
            <a:r>
              <a:rPr lang="en-US" sz="1700" b="1" dirty="0" smtClean="0">
                <a:latin typeface="Times New Roman" pitchFamily="18" charset="0"/>
                <a:cs typeface="Times New Roman" pitchFamily="18" charset="0"/>
              </a:rPr>
              <a:t>fully autonomous AI farming advisor</a:t>
            </a:r>
            <a:r>
              <a:rPr lang="en-US" sz="1700" dirty="0" smtClean="0">
                <a:latin typeface="Times New Roman" pitchFamily="18" charset="0"/>
                <a:cs typeface="Times New Roman" pitchFamily="18" charset="0"/>
              </a:rPr>
              <a:t> that continuously monitors data and provides proactive decision-making support without user prompts.</a:t>
            </a:r>
          </a:p>
          <a:p>
            <a:pPr algn="just">
              <a:buFont typeface="Arial" pitchFamily="34" charset="0"/>
              <a:buChar char="•"/>
            </a:pPr>
            <a:r>
              <a:rPr lang="en-US" sz="1700" b="1" dirty="0" smtClean="0">
                <a:latin typeface="Times New Roman" pitchFamily="18" charset="0"/>
                <a:cs typeface="Times New Roman" pitchFamily="18" charset="0"/>
              </a:rPr>
              <a:t> Overall Vision</a:t>
            </a:r>
          </a:p>
          <a:p>
            <a:pPr algn="just"/>
            <a:r>
              <a:rPr lang="en-US" sz="1700" dirty="0" smtClean="0">
                <a:latin typeface="Times New Roman" pitchFamily="18" charset="0"/>
                <a:cs typeface="Times New Roman" pitchFamily="18" charset="0"/>
              </a:rPr>
              <a:t>To transform the Smart Farming AI Agent into a </a:t>
            </a:r>
            <a:r>
              <a:rPr lang="en-US" sz="1700" b="1" dirty="0" smtClean="0">
                <a:latin typeface="Times New Roman" pitchFamily="18" charset="0"/>
                <a:cs typeface="Times New Roman" pitchFamily="18" charset="0"/>
              </a:rPr>
              <a:t>complete digital agriculture ecosystem</a:t>
            </a:r>
            <a:r>
              <a:rPr lang="en-US" sz="1700" dirty="0" smtClean="0">
                <a:latin typeface="Times New Roman" pitchFamily="18" charset="0"/>
                <a:cs typeface="Times New Roman" pitchFamily="18" charset="0"/>
              </a:rPr>
              <a:t> that empowers farmers with data-driven, real-time, and intelligent farming decisions.</a:t>
            </a: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b="21549"/>
          <a:stretch/>
        </p:blipFill>
        <p:spPr>
          <a:xfrm>
            <a:off x="0" y="2190302"/>
            <a:ext cx="12192000" cy="194354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1451</TotalTime>
  <Words>1390</Words>
  <Application>Microsoft Office PowerPoint</Application>
  <PresentationFormat>Widescreen</PresentationFormat>
  <Paragraphs>145</Paragraphs>
  <Slides>16</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Hinaxi</cp:lastModifiedBy>
  <cp:revision>49</cp:revision>
  <dcterms:created xsi:type="dcterms:W3CDTF">2025-07-08T05:06:56Z</dcterms:created>
  <dcterms:modified xsi:type="dcterms:W3CDTF">2026-06-13T08:37:02Z</dcterms:modified>
</cp:coreProperties>
</file>